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356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37210" y="2496312"/>
            <a:ext cx="432816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dirty="0">
                <a:solidFill>
                  <a:schemeClr val="bg1"/>
                </a:solidFill>
              </a:rPr>
              <a:t>4 LOST TOURISTS:DOMAIN-1(INTELLIGENT SYSTEMS AND DIGITAL FUTURE</a:t>
            </a:r>
          </a:p>
        </p:txBody>
      </p:sp>
      <p:sp>
        <p:nvSpPr>
          <p:cNvPr id="14" name="Cover Lead"/>
          <p:cNvSpPr txBox="1"/>
          <p:nvPr/>
        </p:nvSpPr>
        <p:spPr>
          <a:xfrm>
            <a:off x="537210" y="3105539"/>
            <a:ext cx="5669280" cy="365760"/>
          </a:xfrm>
          <a:prstGeom prst="rect">
            <a:avLst/>
          </a:prstGeom>
          <a:noFill/>
          <a:ln/>
        </p:spPr>
        <p:txBody>
          <a:bodyPr wrap="square" lIns="0" tIns="0" rIns="0" bIns="0" rtlCol="0" anchor="ctr"/>
          <a:lstStyle/>
          <a:p>
            <a:pPr marL="0" indent="0">
              <a:buNone/>
            </a:pPr>
            <a:r>
              <a:rPr lang="en-US" sz="1600" dirty="0">
                <a:solidFill>
                  <a:schemeClr val="bg1"/>
                </a:solidFill>
              </a:rPr>
              <a:t>Our team in this project serves a futuristic responsible technology for the improvement of lifestyle of people in low connectivity region</a:t>
            </a:r>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sz="2000" b="1" dirty="0">
                <a:solidFill>
                  <a:schemeClr val="bg1"/>
                </a:solidFill>
              </a:rPr>
              <a:t>4 Lost Tourists</a:t>
            </a:r>
            <a:r>
              <a:rPr lang="en-US" sz="1800" dirty="0">
                <a:solidFill>
                  <a:schemeClr val="bg1"/>
                </a:solidFill>
              </a:rPr>
              <a:t>.</a:t>
            </a:r>
            <a:endParaRPr lang="en-US" sz="1800" dirty="0"/>
          </a:p>
          <a:p>
            <a:pPr marL="279400" indent="-279400">
              <a:spcAft>
                <a:spcPts val="1400"/>
              </a:spcAft>
              <a:buClr>
                <a:schemeClr val="accent3"/>
              </a:buClr>
              <a:buSzPct val="100000"/>
              <a:buChar char="•"/>
            </a:pPr>
            <a:r>
              <a:rPr lang="en-US" sz="1800" dirty="0">
                <a:solidFill>
                  <a:schemeClr val="bg1"/>
                </a:solidFill>
              </a:rPr>
              <a:t>Team Members –SABHARISH(CB.SC.U4AIE26056),                          SANJITH(CB.SC.U4AIE26059),SASWIN</a:t>
            </a:r>
            <a:r>
              <a:rPr lang="en-US" dirty="0">
                <a:solidFill>
                  <a:schemeClr val="bg1"/>
                </a:solidFill>
              </a:rPr>
              <a:t>(CB.SC.U4AIE26060),</a:t>
            </a:r>
            <a:r>
              <a:rPr lang="en-US" sz="1800" dirty="0">
                <a:solidFill>
                  <a:schemeClr val="bg1"/>
                </a:solidFill>
              </a:rPr>
              <a:t> ANUSHRI NARKHEDE(CB.EN.U4CHE26004)</a:t>
            </a:r>
            <a:endParaRPr lang="en-US" sz="1800" dirty="0"/>
          </a:p>
          <a:p>
            <a:pPr marL="279400" indent="-279400">
              <a:spcAft>
                <a:spcPts val="1400"/>
              </a:spcAft>
              <a:buClr>
                <a:schemeClr val="accent3"/>
              </a:buClr>
              <a:buSzPct val="100000"/>
              <a:buChar char="•"/>
            </a:pPr>
            <a:r>
              <a:rPr lang="en-US" sz="1800" dirty="0">
                <a:solidFill>
                  <a:schemeClr val="bg1"/>
                </a:solidFill>
              </a:rPr>
              <a:t>Selected Domain –DOMAIN-1:INTELLIGENT SYSTEMS AND DIGITAL FUTURE.</a:t>
            </a:r>
            <a:endParaRPr lang="en-US" sz="1800" dirty="0"/>
          </a:p>
          <a:p>
            <a:pPr marL="279400" indent="-279400">
              <a:spcAft>
                <a:spcPts val="1400"/>
              </a:spcAft>
              <a:buClr>
                <a:schemeClr val="accent3"/>
              </a:buClr>
              <a:buSzPct val="100000"/>
              <a:buChar char="•"/>
            </a:pPr>
            <a:r>
              <a:rPr lang="en-US" sz="1800" dirty="0">
                <a:solidFill>
                  <a:schemeClr val="bg1"/>
                </a:solidFill>
              </a:rPr>
              <a:t>Problem Statement –OFFLINE-FIRST AI ASSITANT FOR LOW CONNECTIVITY REGIONS.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dirty="0"/>
              <a:t>THE UNAVAILABILITY OF RESOURCES FOR LOW CONNECTIVITY REGIONS IN AI AND DATAS: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a:t>Most AI tools assume a good internet connection. How can small on-device models serve people with poor connectivity or low-end phones, in regional languages?</a:t>
            </a:r>
            <a:endParaRPr lang="en-US" sz="1800" dirty="0"/>
          </a:p>
        </p:txBody>
      </p:sp>
      <p:sp>
        <p:nvSpPr>
          <p:cNvPr id="10" name="Prompts"/>
          <p:cNvSpPr txBox="1"/>
          <p:nvPr/>
        </p:nvSpPr>
        <p:spPr>
          <a:xfrm>
            <a:off x="868680" y="2148840"/>
            <a:ext cx="10424160" cy="2126434"/>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AI needs internet connection to be accessed, which is the main problem of the situation which should be overcome for  AI to be accessed in low connectivity regions like hills stations and village regions.</a:t>
            </a:r>
            <a:endParaRPr lang="en-US" sz="1800" dirty="0"/>
          </a:p>
          <a:p>
            <a:pPr marL="279400" indent="-279400">
              <a:spcAft>
                <a:spcPts val="1000"/>
              </a:spcAft>
              <a:buClr>
                <a:schemeClr val="accent1"/>
              </a:buClr>
              <a:buSzPct val="100000"/>
              <a:buChar char="•"/>
            </a:pPr>
            <a:r>
              <a:rPr lang="en-US" dirty="0"/>
              <a:t>The most important thing in this problem is how are we going to get the vast amount of data transferred to any of the regions without any internet. Because AI needs data centers of acres of land size to store their data which is used by the people using internet in cities but this cannot be accessed in low connectivity regions because of the internet problem which won’t be available everywhere.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8831C04-61DF-129F-138C-4879DA2FF98A}"/>
              </a:ext>
            </a:extLst>
          </p:cNvPr>
          <p:cNvSpPr/>
          <p:nvPr/>
        </p:nvSpPr>
        <p:spPr>
          <a:xfrm>
            <a:off x="1282278" y="2210105"/>
            <a:ext cx="2603921" cy="328154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400" dirty="0">
              <a:solidFill>
                <a:srgbClr val="000000"/>
              </a:solidFill>
            </a:endParaRPr>
          </a:p>
          <a:p>
            <a:r>
              <a:rPr lang="en-IN" sz="1400" dirty="0">
                <a:solidFill>
                  <a:srgbClr val="000000"/>
                </a:solidFill>
              </a:rPr>
              <a:t>Farmers, rural families and elderly or low-literacy users in low-connectivity regions who need information on schemes, health and farming but cannot rely on internet-based AI tools. Many also prefer speaking in their regional language over typing.</a:t>
            </a:r>
          </a:p>
        </p:txBody>
      </p:sp>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1432156" y="2398031"/>
            <a:ext cx="2304167" cy="333059"/>
          </a:xfrm>
          <a:prstGeom prst="rect">
            <a:avLst/>
          </a:prstGeom>
          <a:noFill/>
          <a:ln/>
        </p:spPr>
        <p:txBody>
          <a:bodyPr wrap="square" lIns="0" tIns="0" rIns="0" bIns="0" rtlCol="0" anchor="t"/>
          <a:lstStyle/>
          <a:p>
            <a:pPr>
              <a:spcAft>
                <a:spcPts val="1000"/>
              </a:spcAft>
              <a:buClr>
                <a:schemeClr val="accent1"/>
              </a:buClr>
              <a:buSzPct val="100000"/>
            </a:pPr>
            <a:r>
              <a:rPr lang="en-US" sz="1600" dirty="0">
                <a:solidFill>
                  <a:schemeClr val="accent1"/>
                </a:solidFill>
              </a:rPr>
              <a:t>Primary user’s/Target group</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11" name="Rectangle: Rounded Corners 10">
            <a:extLst>
              <a:ext uri="{FF2B5EF4-FFF2-40B4-BE49-F238E27FC236}">
                <a16:creationId xmlns:a16="http://schemas.microsoft.com/office/drawing/2014/main" id="{7244D49A-06C6-5A40-25C9-04E7DCA16226}"/>
              </a:ext>
            </a:extLst>
          </p:cNvPr>
          <p:cNvSpPr/>
          <p:nvPr/>
        </p:nvSpPr>
        <p:spPr>
          <a:xfrm>
            <a:off x="4293894" y="2210105"/>
            <a:ext cx="2603921" cy="328154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accent1"/>
                </a:solidFill>
              </a:rPr>
              <a:t>Secondary Stake holders</a:t>
            </a:r>
          </a:p>
          <a:p>
            <a:pPr algn="ctr"/>
            <a:endParaRPr lang="en-IN" sz="1600" dirty="0">
              <a:solidFill>
                <a:schemeClr val="accent1"/>
              </a:solidFill>
            </a:endParaRPr>
          </a:p>
          <a:p>
            <a:r>
              <a:rPr lang="en-IN" sz="1400" dirty="0">
                <a:solidFill>
                  <a:srgbClr val="000000"/>
                </a:solidFill>
              </a:rPr>
              <a:t>Health workers (such as ASHA workers), panchayat offices, agriculture departments, NGOs and local self-help groups who help villagers access services. They spend a lot of time answering repetitive questions that an assistant could handle.</a:t>
            </a:r>
          </a:p>
          <a:p>
            <a:pPr algn="ctr"/>
            <a:endParaRPr lang="en-IN" sz="1400" dirty="0">
              <a:solidFill>
                <a:srgbClr val="000000"/>
              </a:solidFill>
            </a:endParaRPr>
          </a:p>
          <a:p>
            <a:pPr algn="ctr"/>
            <a:endParaRPr lang="en-IN" sz="1400" dirty="0">
              <a:solidFill>
                <a:srgbClr val="000000"/>
              </a:solidFill>
            </a:endParaRPr>
          </a:p>
        </p:txBody>
      </p:sp>
      <p:sp>
        <p:nvSpPr>
          <p:cNvPr id="14" name="Rectangle: Rounded Corners 13">
            <a:extLst>
              <a:ext uri="{FF2B5EF4-FFF2-40B4-BE49-F238E27FC236}">
                <a16:creationId xmlns:a16="http://schemas.microsoft.com/office/drawing/2014/main" id="{D2C8D293-4A03-55EA-171D-618683934686}"/>
              </a:ext>
            </a:extLst>
          </p:cNvPr>
          <p:cNvSpPr/>
          <p:nvPr/>
        </p:nvSpPr>
        <p:spPr>
          <a:xfrm>
            <a:off x="7305510" y="2210104"/>
            <a:ext cx="2603921" cy="328154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1"/>
              </a:buClr>
              <a:buSzPct val="100000"/>
            </a:pPr>
            <a:r>
              <a:rPr lang="en-US" sz="1600" dirty="0">
                <a:solidFill>
                  <a:schemeClr val="accent1"/>
                </a:solidFill>
              </a:rPr>
              <a:t> Who benefits if the                      problem is solved?</a:t>
            </a:r>
            <a:br>
              <a:rPr lang="en-US" sz="1600" dirty="0">
                <a:solidFill>
                  <a:schemeClr val="accent1"/>
                </a:solidFill>
              </a:rPr>
            </a:br>
            <a:br>
              <a:rPr lang="en-US" sz="1600" dirty="0">
                <a:solidFill>
                  <a:schemeClr val="accent1"/>
                </a:solidFill>
              </a:rPr>
            </a:br>
            <a:r>
              <a:rPr lang="en-IN" sz="1400" dirty="0">
                <a:solidFill>
                  <a:srgbClr val="000000"/>
                </a:solidFill>
              </a:rPr>
              <a:t>Villagers get instant, reliable guidance without data costs or a signal, and their personal queries stay private on their own phone. Governments and NGOs reach more people without building new infrastructure, and digital inclusion improves across the country.</a:t>
            </a:r>
            <a:endParaRPr lang="en-US" sz="1400" dirty="0">
              <a:solidFill>
                <a:srgbClr val="000000"/>
              </a:solidFill>
            </a:endParaRPr>
          </a:p>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41605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accent6">
                    <a:lumMod val="50000"/>
                  </a:schemeClr>
                </a:solidFill>
              </a:rPr>
              <a:t>Existing scenario and background:</a:t>
            </a:r>
            <a:r>
              <a:rPr lang="en-IN" dirty="0"/>
              <a:t>Most AI assistants and chatbots run on cloud servers and need a stable internet connection. Large parts of rural and semi-urban India still face weak signals and costly data, so these tools often fail exactly where information is most needed.</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Relevant data or facts (if available):</a:t>
            </a:r>
            <a:r>
              <a:rPr lang="en-IN" dirty="0"/>
              <a:t>Smartphone use in villages is growing, but most phones are low-to-mid range with limited memory and storage. Recent small language and speech models can now be compressed enough to run on such phones, and national efforts like Bhashini are pushing for Indian-language digital access.</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Current workflow, step by step:</a:t>
            </a:r>
            <a:br>
              <a:rPr lang="en-US" dirty="0">
                <a:solidFill>
                  <a:schemeClr val="accent6">
                    <a:lumMod val="50000"/>
                  </a:schemeClr>
                </a:solidFill>
              </a:rPr>
            </a:br>
            <a:r>
              <a:rPr lang="en-US" dirty="0">
                <a:solidFill>
                  <a:schemeClr val="tx1"/>
                </a:solidFill>
              </a:rPr>
              <a:t>                          </a:t>
            </a:r>
            <a:r>
              <a:rPr lang="en-IN" dirty="0"/>
              <a:t>1) The user has a question about a scheme, crop or health issue.</a:t>
            </a:r>
            <a:br>
              <a:rPr lang="en-IN" dirty="0"/>
            </a:br>
            <a:r>
              <a:rPr lang="en-IN" dirty="0"/>
              <a:t>                          2) They either travel to an office, call a helpline, or ask a neighbour or agent.</a:t>
            </a:r>
            <a:br>
              <a:rPr lang="en-IN" dirty="0"/>
            </a:br>
            <a:r>
              <a:rPr lang="en-IN" dirty="0"/>
              <a:t>                          3) If they try an app or chatbot, it needs internet and usually works best in </a:t>
            </a:r>
            <a:br>
              <a:rPr lang="en-IN" dirty="0"/>
            </a:br>
            <a:r>
              <a:rPr lang="en-IN" dirty="0"/>
              <a:t>                              English or Hindi.</a:t>
            </a:r>
            <a:br>
              <a:rPr lang="en-IN" dirty="0"/>
            </a:br>
            <a:r>
              <a:rPr lang="en-IN" dirty="0"/>
              <a:t>                          4) Without a connection, the query goes unanswered or they act on </a:t>
            </a:r>
            <a:br>
              <a:rPr lang="en-IN" dirty="0"/>
            </a:br>
            <a:r>
              <a:rPr lang="en-IN" dirty="0"/>
              <a:t>                              incomplete information.</a:t>
            </a: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6096"/>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3137724"/>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accent6">
                    <a:lumMod val="50000"/>
                  </a:schemeClr>
                </a:solidFill>
              </a:rPr>
              <a:t>Main difficulties and bottlenecks:</a:t>
            </a:r>
            <a:r>
              <a:rPr lang="en-IN" dirty="0"/>
              <a:t>Cloud-based AI stops working without internet, apps are rarely available in local languages, and many users cannot type or read well. Low-end phones also struggle to run large AI models.</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Root causes behind them:</a:t>
            </a:r>
            <a:r>
              <a:rPr lang="en-IN" dirty="0"/>
              <a:t>AI models are built for powerful servers, not small devices, and most training data and interfaces focus on English. Connectivity infrastructure and data affordability remain uneven across regions.</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Consequences of leaving them unsolved:</a:t>
            </a:r>
            <a:r>
              <a:rPr lang="en-IN" dirty="0"/>
              <a:t>People miss out on schemes and benefits they are entitled to, and farmers make decisions without timely advice. The digital divide between urban and rural users widens, and people may rely on middlemen or unverified sources.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2653274"/>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accent6">
                    <a:lumMod val="50000"/>
                  </a:schemeClr>
                </a:solidFill>
              </a:rPr>
              <a:t>Existing methods, systems or alternatives:</a:t>
            </a:r>
            <a:r>
              <a:rPr lang="en-IN" sz="1600" dirty="0"/>
              <a:t>Cloud AI assistants and chatbots, government helplines such as the Kisan Call Centre, WhatsApp-based information bots, and offline translation packs on some apps.</a:t>
            </a:r>
            <a:endParaRPr lang="en-US" sz="1600" dirty="0"/>
          </a:p>
          <a:p>
            <a:pPr marL="279400" indent="-279400">
              <a:spcAft>
                <a:spcPts val="1000"/>
              </a:spcAft>
              <a:buClr>
                <a:schemeClr val="accent1"/>
              </a:buClr>
              <a:buSzPct val="100000"/>
              <a:buChar char="•"/>
            </a:pPr>
            <a:r>
              <a:rPr lang="en-US" sz="1800" dirty="0">
                <a:solidFill>
                  <a:schemeClr val="accent6">
                    <a:lumMod val="50000"/>
                  </a:schemeClr>
                </a:solidFill>
              </a:rPr>
              <a:t>Limitations of each:</a:t>
            </a:r>
            <a:r>
              <a:rPr lang="en-IN" sz="1600" dirty="0"/>
              <a:t>Cloud assistants and WhatsApp bots need internet, helplines have waiting times and limited hours, and offline translation tools only translate and cannot answer questions. Most solutions also support few regional languages well and need typing.</a:t>
            </a:r>
            <a:endParaRPr lang="en-US" sz="1600" dirty="0"/>
          </a:p>
          <a:p>
            <a:pPr marL="279400" indent="-279400">
              <a:spcAft>
                <a:spcPts val="1000"/>
              </a:spcAft>
              <a:buClr>
                <a:schemeClr val="accent1"/>
              </a:buClr>
              <a:buSzPct val="100000"/>
              <a:buChar char="•"/>
            </a:pPr>
            <a:r>
              <a:rPr lang="en-US" sz="1800" dirty="0">
                <a:solidFill>
                  <a:schemeClr val="accent6">
                    <a:lumMod val="50000"/>
                  </a:schemeClr>
                </a:solidFill>
              </a:rPr>
              <a:t>The gap they leave open (Key Challenges):</a:t>
            </a:r>
            <a:r>
              <a:rPr lang="en-IN" sz="1600" dirty="0"/>
              <a:t>There is no complete assistant that works fully offline, understands spoken regional languages, answers from verified information, and runs on low-cost phones. That is the gap our solution fills.</a:t>
            </a:r>
            <a:endParaRPr lang="en-US" sz="16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40"/>
            <a:ext cx="10424160" cy="32461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accent6">
                    <a:lumMod val="50000"/>
                  </a:schemeClr>
                </a:solidFill>
              </a:rPr>
              <a:t>Hardware Requirements:</a:t>
            </a:r>
            <a:r>
              <a:rPr lang="en-IN" dirty="0">
                <a:solidFill>
                  <a:srgbClr val="000000"/>
                </a:solidFill>
              </a:rPr>
              <a:t>No</a:t>
            </a:r>
            <a:r>
              <a:rPr lang="en-IN" dirty="0">
                <a:solidFill>
                  <a:schemeClr val="accent6">
                    <a:lumMod val="50000"/>
                  </a:schemeClr>
                </a:solidFill>
              </a:rPr>
              <a:t> </a:t>
            </a:r>
            <a:r>
              <a:rPr lang="en-IN" dirty="0"/>
              <a:t>new hardware is needed. We target ordinary Android phones with around 4-6 GB RAM, plus a laptop or Google </a:t>
            </a:r>
            <a:r>
              <a:rPr lang="en-IN" dirty="0" err="1"/>
              <a:t>Colab</a:t>
            </a:r>
            <a:r>
              <a:rPr lang="en-IN" dirty="0"/>
              <a:t> for model preparation and testing.</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Software Requirements:</a:t>
            </a:r>
            <a:r>
              <a:rPr lang="en-IN" dirty="0"/>
              <a:t>A small language model (such as Gemma, Phi or Qwen) compressed with quantization, offline speech-to-text and text-to-speech (Whisper-small, </a:t>
            </a:r>
            <a:r>
              <a:rPr lang="en-IN" dirty="0" err="1"/>
              <a:t>Vosk</a:t>
            </a:r>
            <a:r>
              <a:rPr lang="en-IN" dirty="0"/>
              <a:t> or Bhashini models), llama.cpp or ONNX Runtime for on-device running, Android Studio or Flutter for the app, and SQLite for the local knowledge base.</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Other resources (Including Human Resources):</a:t>
            </a:r>
            <a:r>
              <a:rPr lang="en-IN" dirty="0"/>
              <a:t>Verified content from official sources such as scheme guidelines and agriculture department material, and a team covering AI/ML, app development, UI design and content research. Feedback from a few real users (farmers, health workers) would help test and</a:t>
            </a:r>
            <a:br>
              <a:rPr lang="en-IN" dirty="0"/>
            </a:br>
            <a:r>
              <a:rPr lang="en-IN" dirty="0"/>
              <a:t>refine the app.</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2980278"/>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accent6">
                    <a:lumMod val="50000"/>
                  </a:schemeClr>
                </a:solidFill>
              </a:rPr>
              <a:t>What your team intends to do:</a:t>
            </a:r>
            <a:r>
              <a:rPr lang="en-IN" dirty="0"/>
              <a:t>Build a voice-enabled, offline-first AI assistant app that runs a compressed model on the phone and answers questions in a regional language using a local, verified knowledge base. We will start with one language and one use case, such as scheme information for farmers.</a:t>
            </a:r>
            <a:endParaRPr lang="en-US" sz="1800" dirty="0"/>
          </a:p>
          <a:p>
            <a:pPr marL="279400" indent="-279400">
              <a:spcAft>
                <a:spcPts val="1000"/>
              </a:spcAft>
              <a:buClr>
                <a:schemeClr val="accent1"/>
              </a:buClr>
              <a:buSzPct val="100000"/>
              <a:buChar char="•"/>
            </a:pPr>
            <a:r>
              <a:rPr lang="en-US" sz="1800" dirty="0">
                <a:solidFill>
                  <a:schemeClr val="accent6">
                    <a:lumMod val="50000"/>
                  </a:schemeClr>
                </a:solidFill>
              </a:rPr>
              <a:t>What you want to improve:</a:t>
            </a:r>
            <a:r>
              <a:rPr lang="en-IN" dirty="0"/>
              <a:t>Access to reliable information for people with poor connectivity, low literacy or low-end phones, while keeping their queries private on the device. We also want to reduce dependence on middlemen and repeated trips to offices.</a:t>
            </a:r>
            <a:endParaRPr lang="en-US" sz="1800" dirty="0"/>
          </a:p>
          <a:p>
            <a:pPr marL="279400" indent="-279400">
              <a:spcAft>
                <a:spcPts val="1000"/>
              </a:spcAft>
              <a:buClr>
                <a:schemeClr val="accent1"/>
              </a:buClr>
              <a:buSzPct val="100000"/>
              <a:buFontTx/>
              <a:buChar char="•"/>
            </a:pPr>
            <a:r>
              <a:rPr lang="en-US" sz="1800" dirty="0">
                <a:solidFill>
                  <a:schemeClr val="accent6">
                    <a:lumMod val="50000"/>
                  </a:schemeClr>
                </a:solidFill>
              </a:rPr>
              <a:t>What successful improvement should you achieve:</a:t>
            </a:r>
            <a:r>
              <a:rPr lang="en-IN" dirty="0"/>
              <a:t>A working prototype that answers common questions accurately without internet, responds within a few seconds on a mid-range phone, and is easy to use by voice for non-technical users. Success means users find the right answer quickly and can act on it.</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4 Lost Tourists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3334977875"/>
              </p:ext>
            </p:extLst>
          </p:nvPr>
        </p:nvGraphicFramePr>
        <p:xfrm>
          <a:off x="548640" y="2194560"/>
          <a:ext cx="11094415" cy="390144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Sabharish 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Solution &amp; Technical Design Lead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IN" sz="1400" dirty="0"/>
                        <a:t>Designs the solution on paper</a:t>
                      </a:r>
                    </a:p>
                    <a:p>
                      <a:pPr marL="285750" indent="-285750">
                        <a:buFont typeface="Arial" panose="020B0604020202020204" pitchFamily="34" charset="0"/>
                        <a:buChar char="•"/>
                      </a:pPr>
                      <a:r>
                        <a:rPr lang="en-IN" sz="1400" dirty="0">
                          <a:latin typeface="Calibri" charset="0"/>
                          <a:ea typeface="Calibri" charset="0"/>
                          <a:cs typeface="Calibri" charset="0"/>
                        </a:rPr>
                        <a:t>Decides the tools and approach and justifies each choice</a:t>
                      </a:r>
                    </a:p>
                    <a:p>
                      <a:pPr marL="285750" indent="-285750">
                        <a:buFont typeface="Arial" panose="020B0604020202020204" pitchFamily="34" charset="0"/>
                        <a:buChar char="•"/>
                      </a:pPr>
                      <a:r>
                        <a:rPr lang="en-IN" sz="1400" dirty="0"/>
                        <a:t>Owns slides :</a:t>
                      </a:r>
                      <a:r>
                        <a:rPr lang="en-IN" sz="1400" b="1" dirty="0"/>
                        <a:t>Problem Insights &amp; Opportunity Areas</a:t>
                      </a:r>
                      <a:r>
                        <a:rPr lang="en-IN" sz="1400" dirty="0"/>
                        <a:t> (resources) and </a:t>
                      </a:r>
                      <a:r>
                        <a:rPr lang="en-IN" sz="1400" b="1" dirty="0"/>
                        <a:t>Initial Direction &amp; Expected Outcome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Sanjith K 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Existing Solutions &amp; Gap Analyst</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IN" sz="1400" dirty="0"/>
                        <a:t>Researches what already exists</a:t>
                      </a:r>
                    </a:p>
                    <a:p>
                      <a:pPr marL="285750" indent="-285750">
                        <a:buFont typeface="Arial" panose="020B0604020202020204" pitchFamily="34" charset="0"/>
                        <a:buChar char="•"/>
                      </a:pPr>
                      <a:r>
                        <a:rPr lang="en-IN" sz="1400" dirty="0"/>
                        <a:t>Builds a simple comparison table</a:t>
                      </a:r>
                    </a:p>
                    <a:p>
                      <a:pPr marL="285750" indent="-285750">
                        <a:buFont typeface="Arial" panose="020B0604020202020204" pitchFamily="34" charset="0"/>
                        <a:buChar char="•"/>
                      </a:pPr>
                      <a:r>
                        <a:rPr lang="en-IN" sz="1400" dirty="0"/>
                        <a:t>Owns </a:t>
                      </a:r>
                      <a:r>
                        <a:rPr lang="en-IN" sz="1400" dirty="0" err="1"/>
                        <a:t>slide:</a:t>
                      </a:r>
                      <a:r>
                        <a:rPr lang="en-IN" sz="1400" b="1" dirty="0" err="1"/>
                        <a:t>Existing</a:t>
                      </a:r>
                      <a:r>
                        <a:rPr lang="en-IN" sz="1400" b="1" dirty="0"/>
                        <a:t> Solutions / Approaches</a:t>
                      </a:r>
                      <a:endParaRPr lang="en-US" sz="1400" b="1"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Saswin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Impact, Storytelling &amp; Presentation Lead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IN" sz="1400" dirty="0"/>
                        <a:t>Designs the final deck (visual consistency, clear flow)</a:t>
                      </a:r>
                    </a:p>
                    <a:p>
                      <a:pPr marL="285750" indent="-285750">
                        <a:buFont typeface="Arial" panose="020B0604020202020204" pitchFamily="34" charset="0"/>
                        <a:buChar char="•"/>
                      </a:pPr>
                      <a:r>
                        <a:rPr lang="en-IN" sz="1400" dirty="0"/>
                        <a:t>Writes the impact </a:t>
                      </a:r>
                      <a:r>
                        <a:rPr lang="en-IN" sz="1400" dirty="0" err="1"/>
                        <a:t>story:who</a:t>
                      </a:r>
                      <a:r>
                        <a:rPr lang="en-IN" sz="1400" dirty="0"/>
                        <a:t> benefits, how many people, how success would be measured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Anushri Narkhede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dirty="0"/>
                        <a:t>Problem &amp; User Research Lead</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IN" sz="1400" dirty="0"/>
                        <a:t>Finds facts and data on rural connectivity, smartphone use and etc.</a:t>
                      </a:r>
                    </a:p>
                    <a:p>
                      <a:pPr marL="285750" indent="-285750">
                        <a:buFont typeface="Arial" panose="020B0604020202020204" pitchFamily="34" charset="0"/>
                        <a:buChar char="•"/>
                      </a:pPr>
                      <a:r>
                        <a:rPr lang="en-IN" sz="1400" dirty="0"/>
                        <a:t>Studies the users.</a:t>
                      </a:r>
                    </a:p>
                    <a:p>
                      <a:pPr marL="285750" indent="-285750">
                        <a:buFont typeface="Arial" panose="020B0604020202020204" pitchFamily="34" charset="0"/>
                        <a:buChar char="•"/>
                      </a:pPr>
                      <a:r>
                        <a:rPr lang="en-IN" sz="1400" dirty="0"/>
                        <a:t>Owns slides: </a:t>
                      </a:r>
                      <a:r>
                        <a:rPr lang="en-IN" sz="1400" b="1" dirty="0"/>
                        <a:t>Who is Affected?</a:t>
                      </a:r>
                      <a:r>
                        <a:rPr lang="en-IN" sz="1400" dirty="0"/>
                        <a:t>, </a:t>
                      </a:r>
                      <a:r>
                        <a:rPr lang="en-IN" sz="1400" b="1" dirty="0"/>
                        <a:t>Current Situation &amp; Context</a:t>
                      </a:r>
                      <a:r>
                        <a:rPr lang="en-IN" sz="1400" dirty="0"/>
                        <a:t>, </a:t>
                      </a:r>
                      <a:r>
                        <a:rPr lang="en-IN" sz="1400" b="1" dirty="0"/>
                        <a:t>Key Challenges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1405</Words>
  <Application>Microsoft Office PowerPoint</Application>
  <PresentationFormat>Widescreen</PresentationFormat>
  <Paragraphs>104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THE UNAVAILABILITY OF RESOURCES FOR LOW CONNECTIVITY REGIONS IN AI AND DATAS: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Sabharish S</cp:lastModifiedBy>
  <cp:revision>7</cp:revision>
  <dcterms:created xsi:type="dcterms:W3CDTF">2026-10-07T15:27:40Z</dcterms:created>
  <dcterms:modified xsi:type="dcterms:W3CDTF">2026-10-09T18:14:26Z</dcterms:modified>
</cp:coreProperties>
</file>