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C210C8-6D12-8D5E-A101-B888F44C5014}">
          <p14:sldIdLst>
            <p14:sldId id="256"/>
            <p14:sldId id="257"/>
          </p14:sldIdLst>
        </p14:section>
        <p14:section name="Problem" id="{34776D6B-4DB4-3CF4-5C76-652900976859}">
          <p14:sldIdLst>
            <p14:sldId id="258"/>
            <p14:sldId id="259"/>
            <p14:sldId id="260"/>
          </p14:sldIdLst>
        </p14:section>
        <p14:section name="Solution" id="{1BAC9694-BFF7-4D2C-A393-1E5A14938D2A}">
          <p14:sldIdLst>
            <p14:sldId id="261"/>
            <p14:sldId id="262"/>
            <p14:sldId id="263"/>
            <p14:sldId id="264"/>
            <p14:sldId id="265"/>
          </p14:sldIdLst>
        </p14:section>
        <p14:section name="Impact" id="{56BFC437-3A33-CE71-19A9-BDE425F08B7D}">
          <p14:sldIdLst>
            <p14:sldId id="266"/>
            <p14:sldId id="267"/>
            <p14:sldId id="268"/>
          </p14:sldIdLst>
        </p14:section>
        <p14:section name="Team" id="{4D388CD5-8F14-5DE7-C002-F876DCEF027E}">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10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6555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630936"/>
          </a:xfrm>
          <a:prstGeom prst="rect">
            <a:avLst/>
          </a:prstGeom>
          <a:solidFill>
            <a:schemeClr val="bg2"/>
          </a:solidFill>
          <a:ln/>
        </p:spPr>
      </p:sp>
      <p:sp>
        <p:nvSpPr>
          <p:cNvPr id="3" name="Shape 1"/>
          <p:cNvSpPr/>
          <p:nvPr/>
        </p:nvSpPr>
        <p:spPr>
          <a:xfrm>
            <a:off x="0" y="630936"/>
            <a:ext cx="9144000" cy="32004"/>
          </a:xfrm>
          <a:prstGeom prst="rect">
            <a:avLst/>
          </a:prstGeom>
          <a:solidFill>
            <a:schemeClr val="accent1"/>
          </a:solidFill>
          <a:ln/>
        </p:spPr>
      </p:sp>
      <p:sp>
        <p:nvSpPr>
          <p:cNvPr id="4" name="Shape 2"/>
          <p:cNvSpPr/>
          <p:nvPr/>
        </p:nvSpPr>
        <p:spPr>
          <a:xfrm>
            <a:off x="0" y="6597396"/>
            <a:ext cx="9144000" cy="260604"/>
          </a:xfrm>
          <a:prstGeom prst="rect">
            <a:avLst/>
          </a:prstGeom>
          <a:solidFill>
            <a:schemeClr val="bg2"/>
          </a:solidFill>
          <a:ln/>
        </p:spPr>
      </p:sp>
      <p:sp>
        <p:nvSpPr>
          <p:cNvPr id="5" name="Text 3"/>
          <p:cNvSpPr/>
          <p:nvPr/>
        </p:nvSpPr>
        <p:spPr>
          <a:xfrm>
            <a:off x="649224" y="6597396"/>
            <a:ext cx="4572000" cy="260604"/>
          </a:xfrm>
          <a:prstGeom prst="rect">
            <a:avLst/>
          </a:prstGeom>
          <a:noFill/>
          <a:ln/>
        </p:spPr>
        <p:txBody>
          <a:bodyPr wrap="square" lIns="0" tIns="0" rIns="0" bIns="0" rtlCol="0" anchor="ctr"/>
          <a:lstStyle/>
          <a:p>
            <a:pPr marL="0" indent="0">
              <a:buNone/>
            </a:pPr>
            <a:r>
              <a:rPr lang="en-US" sz="900" b="1" dirty="0">
                <a:solidFill>
                  <a:schemeClr val="tx2"/>
                </a:solidFill>
              </a:rPr>
              <a:t>[Team Number] | [Team Name]</a:t>
            </a:r>
            <a:endParaRPr lang="en-US" sz="900" dirty="0"/>
          </a:p>
        </p:txBody>
      </p:sp>
      <p:sp>
        <p:nvSpPr>
          <p:cNvPr id="6" name="Text 4"/>
          <p:cNvSpPr/>
          <p:nvPr/>
        </p:nvSpPr>
        <p:spPr>
          <a:xfrm>
            <a:off x="5751576" y="6597396"/>
            <a:ext cx="2743200" cy="260604"/>
          </a:xfrm>
          <a:prstGeom prst="rect">
            <a:avLst/>
          </a:prstGeom>
          <a:noFill/>
          <a:ln/>
        </p:spPr>
        <p:txBody>
          <a:bodyPr wrap="square" lIns="0" tIns="0" rIns="0" bIns="0" rtlCol="0" anchor="ctr"/>
          <a:lstStyle/>
          <a:p>
            <a:pPr marL="0" indent="0" algn="r">
              <a:buNone/>
            </a:pPr>
            <a:r>
              <a:rPr lang="en-US" sz="900" b="1" dirty="0">
                <a:solidFill>
                  <a:schemeClr val="tx2"/>
                </a:solidFill>
              </a:rPr>
              <a:t>11th October 2026</a:t>
            </a:r>
            <a:endParaRPr lang="en-US" sz="900" dirty="0"/>
          </a:p>
        </p:txBody>
      </p:sp>
      <p:sp>
        <p:nvSpPr>
          <p:cNvPr id="7" name="Text 5"/>
          <p:cNvSpPr>
            <a:spLocks noGrp="1"/>
          </p:cNvSpPr>
          <p:nvPr>
            <p:ph type="title" idx="105" hasCustomPrompt="1"/>
          </p:nvPr>
        </p:nvSpPr>
        <p:spPr>
          <a:xfrm>
            <a:off x="649224" y="54864"/>
            <a:ext cx="7040880" cy="530352"/>
          </a:xfrm>
          <a:prstGeom prst="rect">
            <a:avLst/>
          </a:prstGeom>
          <a:noFill/>
          <a:ln/>
        </p:spPr>
        <p:txBody>
          <a:bodyPr wrap="square" rtlCol="0"/>
          <a:lstStyle>
            <a:lvl1pPr marL="0" indent="0" algn="l">
              <a:buNone/>
              <a:defRPr lang="en-US" sz="2400" b="1" dirty="0">
                <a:solidFill>
                  <a:schemeClr val="tx2"/>
                </a:solidFill>
              </a:defRPr>
            </a:lvl1pPr>
          </a:lstStyle>
          <a:p>
            <a:pPr marL="0" indent="0" algn="l">
              <a:buNone/>
            </a:pPr>
            <a:endParaRPr lang="en-US" sz="2400" dirty="0"/>
          </a:p>
        </p:txBody>
      </p:sp>
      <p:pic>
        <p:nvPicPr>
          <p:cNvPr id="8" name="Image 0" descr="/home/claude/w/genesis.png"/>
          <p:cNvPicPr>
            <a:picLocks noChangeAspect="1"/>
          </p:cNvPicPr>
          <p:nvPr/>
        </p:nvPicPr>
        <p:blipFill>
          <a:blip r:embed="rId2"/>
          <a:stretch>
            <a:fillRect/>
          </a:stretch>
        </p:blipFill>
        <p:spPr>
          <a:xfrm>
            <a:off x="7818120" y="27432"/>
            <a:ext cx="713232" cy="58521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UTLIN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630936"/>
          </a:xfrm>
          <a:prstGeom prst="rect">
            <a:avLst/>
          </a:prstGeom>
          <a:solidFill>
            <a:schemeClr val="bg2"/>
          </a:solidFill>
          <a:ln/>
        </p:spPr>
      </p:sp>
      <p:sp>
        <p:nvSpPr>
          <p:cNvPr id="3" name="Shape 1"/>
          <p:cNvSpPr/>
          <p:nvPr/>
        </p:nvSpPr>
        <p:spPr>
          <a:xfrm>
            <a:off x="0" y="630936"/>
            <a:ext cx="9144000" cy="32004"/>
          </a:xfrm>
          <a:prstGeom prst="rect">
            <a:avLst/>
          </a:prstGeom>
          <a:solidFill>
            <a:schemeClr val="accent1"/>
          </a:solidFill>
          <a:ln/>
        </p:spPr>
      </p:sp>
      <p:sp>
        <p:nvSpPr>
          <p:cNvPr id="4" name="Shape 2"/>
          <p:cNvSpPr/>
          <p:nvPr/>
        </p:nvSpPr>
        <p:spPr>
          <a:xfrm>
            <a:off x="0" y="6597396"/>
            <a:ext cx="9144000" cy="260604"/>
          </a:xfrm>
          <a:prstGeom prst="rect">
            <a:avLst/>
          </a:prstGeom>
          <a:solidFill>
            <a:schemeClr val="bg2"/>
          </a:solidFill>
          <a:ln/>
        </p:spPr>
      </p:sp>
      <p:sp>
        <p:nvSpPr>
          <p:cNvPr id="5" name="Text 3"/>
          <p:cNvSpPr/>
          <p:nvPr/>
        </p:nvSpPr>
        <p:spPr>
          <a:xfrm>
            <a:off x="649224" y="6597396"/>
            <a:ext cx="4572000" cy="260604"/>
          </a:xfrm>
          <a:prstGeom prst="rect">
            <a:avLst/>
          </a:prstGeom>
          <a:noFill/>
          <a:ln/>
        </p:spPr>
        <p:txBody>
          <a:bodyPr wrap="square" lIns="0" tIns="0" rIns="0" bIns="0" rtlCol="0" anchor="ctr"/>
          <a:lstStyle/>
          <a:p>
            <a:pPr marL="0" indent="0">
              <a:buNone/>
            </a:pPr>
            <a:r>
              <a:rPr lang="en-US" sz="900" b="1" dirty="0">
                <a:solidFill>
                  <a:schemeClr val="tx2"/>
                </a:solidFill>
              </a:rPr>
              <a:t>[Team Number] | [Team Name]</a:t>
            </a:r>
            <a:endParaRPr lang="en-US" sz="900" dirty="0"/>
          </a:p>
        </p:txBody>
      </p:sp>
      <p:sp>
        <p:nvSpPr>
          <p:cNvPr id="6" name="Text 4"/>
          <p:cNvSpPr/>
          <p:nvPr/>
        </p:nvSpPr>
        <p:spPr>
          <a:xfrm>
            <a:off x="5751576" y="6597396"/>
            <a:ext cx="2743200" cy="260604"/>
          </a:xfrm>
          <a:prstGeom prst="rect">
            <a:avLst/>
          </a:prstGeom>
          <a:noFill/>
          <a:ln/>
        </p:spPr>
        <p:txBody>
          <a:bodyPr wrap="square" lIns="0" tIns="0" rIns="0" bIns="0" rtlCol="0" anchor="ctr"/>
          <a:lstStyle/>
          <a:p>
            <a:pPr marL="0" indent="0" algn="r">
              <a:buNone/>
            </a:pPr>
            <a:r>
              <a:rPr lang="en-US" sz="900" b="1" dirty="0">
                <a:solidFill>
                  <a:schemeClr val="tx2"/>
                </a:solidFill>
              </a:rPr>
              <a:t>11th October 2026</a:t>
            </a:r>
            <a:endParaRPr lang="en-US" sz="900" dirty="0"/>
          </a:p>
        </p:txBody>
      </p:sp>
      <p:sp>
        <p:nvSpPr>
          <p:cNvPr id="7" name="Text 5"/>
          <p:cNvSpPr>
            <a:spLocks noGrp="1"/>
          </p:cNvSpPr>
          <p:nvPr>
            <p:ph type="title" idx="105" hasCustomPrompt="1"/>
          </p:nvPr>
        </p:nvSpPr>
        <p:spPr>
          <a:xfrm>
            <a:off x="649224" y="54864"/>
            <a:ext cx="7040880" cy="530352"/>
          </a:xfrm>
          <a:prstGeom prst="rect">
            <a:avLst/>
          </a:prstGeom>
          <a:noFill/>
          <a:ln/>
        </p:spPr>
        <p:txBody>
          <a:bodyPr wrap="square" rtlCol="0"/>
          <a:lstStyle>
            <a:lvl1pPr marL="0" indent="0" algn="l">
              <a:buNone/>
              <a:defRPr lang="en-US" sz="2400" b="1" dirty="0">
                <a:solidFill>
                  <a:schemeClr val="tx2"/>
                </a:solidFill>
              </a:defRPr>
            </a:lvl1pPr>
          </a:lstStyle>
          <a:p>
            <a:pPr marL="0" indent="0" algn="l">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chemeClr val="tx2"/>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mrita logo" descr="Amrita Vishwa Vidyapeetham, Coimbatore Campus logo"/>
          <p:cNvPicPr>
            <a:picLocks noChangeAspect="1"/>
          </p:cNvPicPr>
          <p:nvPr/>
        </p:nvPicPr>
        <p:blipFill>
          <a:blip r:embed="rId3"/>
          <a:stretch>
            <a:fillRect/>
          </a:stretch>
        </p:blipFill>
        <p:spPr>
          <a:xfrm>
            <a:off x="1709928" y="740664"/>
            <a:ext cx="2212848" cy="946404"/>
          </a:xfrm>
          <a:prstGeom prst="rect">
            <a:avLst/>
          </a:prstGeom>
        </p:spPr>
      </p:pic>
      <p:pic>
        <p:nvPicPr>
          <p:cNvPr id="3" name="IIC logo" descr="Institution's Innovation Council logo"/>
          <p:cNvPicPr>
            <a:picLocks noChangeAspect="1"/>
          </p:cNvPicPr>
          <p:nvPr/>
        </p:nvPicPr>
        <p:blipFill>
          <a:blip r:embed="rId4"/>
          <a:stretch>
            <a:fillRect/>
          </a:stretch>
        </p:blipFill>
        <p:spPr>
          <a:xfrm>
            <a:off x="4443984" y="850392"/>
            <a:ext cx="1636776" cy="708660"/>
          </a:xfrm>
          <a:prstGeom prst="rect">
            <a:avLst/>
          </a:prstGeom>
        </p:spPr>
      </p:pic>
      <p:pic>
        <p:nvPicPr>
          <p:cNvPr id="4" name="Genesis logo" descr="Genesis logo"/>
          <p:cNvPicPr>
            <a:picLocks noChangeAspect="1"/>
          </p:cNvPicPr>
          <p:nvPr/>
        </p:nvPicPr>
        <p:blipFill>
          <a:blip r:embed="rId5"/>
          <a:stretch>
            <a:fillRect/>
          </a:stretch>
        </p:blipFill>
        <p:spPr>
          <a:xfrm>
            <a:off x="6583680" y="822960"/>
            <a:ext cx="868680" cy="713232"/>
          </a:xfrm>
          <a:prstGeom prst="rect">
            <a:avLst/>
          </a:prstGeom>
        </p:spPr>
      </p:pic>
      <p:sp>
        <p:nvSpPr>
          <p:cNvPr id="5" name="Divider"/>
          <p:cNvSpPr/>
          <p:nvPr/>
        </p:nvSpPr>
        <p:spPr>
          <a:xfrm>
            <a:off x="649224" y="1943100"/>
            <a:ext cx="7845552" cy="27432"/>
          </a:xfrm>
          <a:prstGeom prst="rect">
            <a:avLst/>
          </a:prstGeom>
          <a:solidFill>
            <a:schemeClr val="bg2"/>
          </a:solidFill>
          <a:ln/>
        </p:spPr>
      </p:sp>
      <p:sp>
        <p:nvSpPr>
          <p:cNvPr id="6" name="Accent bar"/>
          <p:cNvSpPr/>
          <p:nvPr/>
        </p:nvSpPr>
        <p:spPr>
          <a:xfrm>
            <a:off x="649224" y="2414016"/>
            <a:ext cx="1737360" cy="64008"/>
          </a:xfrm>
          <a:prstGeom prst="rect">
            <a:avLst/>
          </a:prstGeom>
          <a:solidFill>
            <a:schemeClr val="accent1"/>
          </a:solidFill>
          <a:ln/>
        </p:spPr>
      </p:sp>
      <p:sp>
        <p:nvSpPr>
          <p:cNvPr id="7" name="Title"/>
          <p:cNvSpPr txBox="1"/>
          <p:nvPr/>
        </p:nvSpPr>
        <p:spPr>
          <a:xfrm>
            <a:off x="649224" y="2697480"/>
            <a:ext cx="7845552" cy="566928"/>
          </a:xfrm>
          <a:prstGeom prst="rect">
            <a:avLst/>
          </a:prstGeom>
          <a:noFill/>
          <a:ln/>
        </p:spPr>
        <p:txBody>
          <a:bodyPr wrap="square" lIns="0" tIns="0" rIns="0" bIns="0" rtlCol="0" anchor="ctr"/>
          <a:lstStyle/>
          <a:p>
            <a:pPr marL="0" indent="0">
              <a:buNone/>
            </a:pPr>
            <a:r>
              <a:rPr lang="en-US" sz="2800" b="1" dirty="0">
                <a:solidFill>
                  <a:schemeClr val="tx2"/>
                </a:solidFill>
              </a:rPr>
              <a:t>Genesis Ideathon: Final Presentation</a:t>
            </a:r>
            <a:endParaRPr lang="en-US" sz="2800" dirty="0"/>
          </a:p>
        </p:txBody>
      </p:sp>
      <p:sp>
        <p:nvSpPr>
          <p:cNvPr id="8" name="Info card"/>
          <p:cNvSpPr/>
          <p:nvPr/>
        </p:nvSpPr>
        <p:spPr>
          <a:xfrm>
            <a:off x="649224" y="3364992"/>
            <a:ext cx="7845552" cy="1709928"/>
          </a:xfrm>
          <a:prstGeom prst="roundRect">
            <a:avLst>
              <a:gd name="adj" fmla="val 6417"/>
            </a:avLst>
          </a:prstGeom>
          <a:solidFill>
            <a:schemeClr val="bg2"/>
          </a:solidFill>
          <a:ln/>
        </p:spPr>
      </p:sp>
      <p:sp>
        <p:nvSpPr>
          <p:cNvPr id="9" name="Info card accent"/>
          <p:cNvSpPr/>
          <p:nvPr/>
        </p:nvSpPr>
        <p:spPr>
          <a:xfrm>
            <a:off x="649224" y="3364992"/>
            <a:ext cx="64008" cy="1709928"/>
          </a:xfrm>
          <a:prstGeom prst="rect">
            <a:avLst/>
          </a:prstGeom>
          <a:solidFill>
            <a:schemeClr val="tx2"/>
          </a:solidFill>
          <a:ln/>
        </p:spPr>
      </p:sp>
      <p:sp>
        <p:nvSpPr>
          <p:cNvPr id="10" name="Team info"/>
          <p:cNvSpPr txBox="1"/>
          <p:nvPr/>
        </p:nvSpPr>
        <p:spPr>
          <a:xfrm>
            <a:off x="914400" y="3456432"/>
            <a:ext cx="7406640" cy="1527048"/>
          </a:xfrm>
          <a:prstGeom prst="rect">
            <a:avLst/>
          </a:prstGeom>
          <a:noFill/>
          <a:ln/>
        </p:spPr>
        <p:txBody>
          <a:bodyPr wrap="square" lIns="0" tIns="0" rIns="0" bIns="0" rtlCol="0" anchor="ctr"/>
          <a:lstStyle/>
          <a:p>
            <a:pPr marL="0" indent="0">
              <a:spcAft>
                <a:spcPts val="1400"/>
              </a:spcAft>
              <a:buNone/>
            </a:pPr>
            <a:r>
              <a:rPr lang="en-US" sz="1800" dirty="0">
                <a:solidFill>
                  <a:schemeClr val="tx1"/>
                </a:solidFill>
              </a:rPr>
              <a:t>Team ID: </a:t>
            </a:r>
            <a:r>
              <a:rPr lang="en-US" sz="1800" i="1" dirty="0">
                <a:solidFill>
                  <a:schemeClr val="tx1"/>
                </a:solidFill>
              </a:rPr>
              <a:t>[</a:t>
            </a:r>
            <a:r>
              <a:rPr lang="en-US" i="1" dirty="0"/>
              <a:t>GEN26-A0H-I178</a:t>
            </a:r>
            <a:r>
              <a:rPr lang="en-US" sz="1800" i="1" dirty="0">
                <a:solidFill>
                  <a:schemeClr val="tx1"/>
                </a:solidFill>
              </a:rPr>
              <a:t>]</a:t>
            </a:r>
            <a:endParaRPr lang="en-US" sz="1800" dirty="0"/>
          </a:p>
          <a:p>
            <a:pPr marL="0" indent="0">
              <a:spcAft>
                <a:spcPts val="1400"/>
              </a:spcAft>
              <a:buNone/>
            </a:pPr>
            <a:r>
              <a:rPr lang="en-US" sz="1800" dirty="0">
                <a:solidFill>
                  <a:schemeClr val="tx1"/>
                </a:solidFill>
              </a:rPr>
              <a:t>Team Name: </a:t>
            </a:r>
            <a:r>
              <a:rPr lang="en-US" sz="1800" i="1" dirty="0">
                <a:solidFill>
                  <a:schemeClr val="tx1"/>
                </a:solidFill>
              </a:rPr>
              <a:t>[</a:t>
            </a:r>
            <a:r>
              <a:rPr lang="en-US" i="1" dirty="0"/>
              <a:t>4 LOST TOURISTS</a:t>
            </a:r>
            <a:r>
              <a:rPr lang="en-US" sz="1800" i="1" dirty="0">
                <a:solidFill>
                  <a:schemeClr val="tx1"/>
                </a:solidFill>
              </a:rPr>
              <a:t>]</a:t>
            </a:r>
            <a:endParaRPr lang="en-US" sz="1800" dirty="0"/>
          </a:p>
          <a:p>
            <a:pPr marL="0" indent="0">
              <a:spcAft>
                <a:spcPts val="1400"/>
              </a:spcAft>
              <a:buNone/>
            </a:pPr>
            <a:r>
              <a:rPr lang="en-US" sz="1800" dirty="0">
                <a:solidFill>
                  <a:schemeClr val="tx1"/>
                </a:solidFill>
              </a:rPr>
              <a:t>Domain: </a:t>
            </a:r>
            <a:r>
              <a:rPr lang="en-US" sz="1800" i="1" dirty="0">
                <a:solidFill>
                  <a:schemeClr val="tx1"/>
                </a:solidFill>
              </a:rPr>
              <a:t>[INTELLIGENT SYSTEMS  AND DIGITAL FUTURES]</a:t>
            </a:r>
            <a:endParaRPr lang="en-US" sz="1800" dirty="0"/>
          </a:p>
        </p:txBody>
      </p:sp>
      <p:sp>
        <p:nvSpPr>
          <p:cNvPr id="11" name="Institution"/>
          <p:cNvSpPr txBox="1"/>
          <p:nvPr/>
        </p:nvSpPr>
        <p:spPr>
          <a:xfrm>
            <a:off x="649224" y="5440680"/>
            <a:ext cx="5120640" cy="365760"/>
          </a:xfrm>
          <a:prstGeom prst="rect">
            <a:avLst/>
          </a:prstGeom>
          <a:noFill/>
          <a:ln/>
        </p:spPr>
        <p:txBody>
          <a:bodyPr wrap="square" lIns="0" tIns="0" rIns="0" bIns="0" rtlCol="0" anchor="ctr"/>
          <a:lstStyle/>
          <a:p>
            <a:pPr marL="0" indent="0">
              <a:buNone/>
            </a:pPr>
            <a:r>
              <a:rPr lang="en-US" sz="1400" dirty="0">
                <a:solidFill>
                  <a:schemeClr val="tx2"/>
                </a:solidFill>
              </a:rPr>
              <a:t>Amrita Vishwa Vidyapeetham, Coimbatore Campus</a:t>
            </a:r>
            <a:endParaRPr lang="en-US" sz="1400" dirty="0"/>
          </a:p>
        </p:txBody>
      </p:sp>
      <p:sp>
        <p:nvSpPr>
          <p:cNvPr id="12" name="Date"/>
          <p:cNvSpPr txBox="1"/>
          <p:nvPr/>
        </p:nvSpPr>
        <p:spPr>
          <a:xfrm>
            <a:off x="5852160" y="5440680"/>
            <a:ext cx="2642616" cy="365760"/>
          </a:xfrm>
          <a:prstGeom prst="rect">
            <a:avLst/>
          </a:prstGeom>
          <a:noFill/>
          <a:ln/>
        </p:spPr>
        <p:txBody>
          <a:bodyPr wrap="square" lIns="0" tIns="0" rIns="0" bIns="0" rtlCol="0" anchor="ctr"/>
          <a:lstStyle/>
          <a:p>
            <a:pPr marL="0" indent="0" algn="r">
              <a:buNone/>
            </a:pPr>
            <a:r>
              <a:rPr lang="en-US" sz="1400" b="1" dirty="0">
                <a:solidFill>
                  <a:schemeClr val="tx2"/>
                </a:solidFill>
              </a:rPr>
              <a:t>Date: </a:t>
            </a:r>
            <a:r>
              <a:rPr lang="en-US" sz="1400" dirty="0">
                <a:solidFill>
                  <a:schemeClr val="tx2"/>
                </a:solidFill>
              </a:rPr>
              <a:t>11th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Presentation Outline</a:t>
            </a:r>
            <a:endParaRPr lang="en-US" sz="2400" dirty="0"/>
          </a:p>
        </p:txBody>
      </p:sp>
      <p:sp>
        <p:nvSpPr>
          <p:cNvPr id="3" name="Outline 1-6"/>
          <p:cNvSpPr txBox="1"/>
          <p:nvPr/>
        </p:nvSpPr>
        <p:spPr>
          <a:xfrm>
            <a:off x="822960" y="1188720"/>
            <a:ext cx="3749040" cy="5029200"/>
          </a:xfrm>
          <a:prstGeom prst="rect">
            <a:avLst/>
          </a:prstGeom>
          <a:noFill/>
          <a:ln/>
        </p:spPr>
        <p:txBody>
          <a:bodyPr wrap="square" rtlCol="0" anchor="ctr"/>
          <a:lstStyle/>
          <a:p>
            <a:pPr marL="342900" indent="-342900">
              <a:spcAft>
                <a:spcPts val="2200"/>
              </a:spcAft>
              <a:buSzPct val="100000"/>
              <a:buFont typeface="+mj-lt"/>
              <a:buAutoNum type="arabicPeriod"/>
            </a:pPr>
            <a:r>
              <a:rPr lang="en-US" sz="1800" dirty="0">
                <a:solidFill>
                  <a:schemeClr val="tx1"/>
                </a:solidFill>
              </a:rPr>
              <a:t>Problem Statement</a:t>
            </a:r>
            <a:endParaRPr lang="en-US" sz="1800" dirty="0"/>
          </a:p>
          <a:p>
            <a:pPr marL="342900" indent="-342900">
              <a:spcAft>
                <a:spcPts val="2200"/>
              </a:spcAft>
              <a:buSzPct val="100000"/>
              <a:buFont typeface="+mj-lt"/>
              <a:buAutoNum type="arabicPeriod"/>
            </a:pPr>
            <a:r>
              <a:rPr lang="en-US" sz="1800" dirty="0">
                <a:solidFill>
                  <a:schemeClr val="tx1"/>
                </a:solidFill>
              </a:rPr>
              <a:t>Problem Understanding</a:t>
            </a:r>
            <a:endParaRPr lang="en-US" sz="1800" dirty="0"/>
          </a:p>
          <a:p>
            <a:pPr marL="342900" indent="-342900">
              <a:spcAft>
                <a:spcPts val="2200"/>
              </a:spcAft>
              <a:buSzPct val="100000"/>
              <a:buFont typeface="+mj-lt"/>
              <a:buAutoNum type="arabicPeriod"/>
            </a:pPr>
            <a:r>
              <a:rPr lang="en-US" sz="1800" dirty="0">
                <a:solidFill>
                  <a:schemeClr val="tx1"/>
                </a:solidFill>
              </a:rPr>
              <a:t>Existing Gaps &amp; Challenges</a:t>
            </a:r>
            <a:endParaRPr lang="en-US" sz="1800" dirty="0"/>
          </a:p>
          <a:p>
            <a:pPr marL="342900" indent="-342900">
              <a:spcAft>
                <a:spcPts val="2200"/>
              </a:spcAft>
              <a:buSzPct val="100000"/>
              <a:buFont typeface="+mj-lt"/>
              <a:buAutoNum type="arabicPeriod"/>
            </a:pPr>
            <a:r>
              <a:rPr lang="en-US" sz="1800" dirty="0">
                <a:solidFill>
                  <a:schemeClr val="tx1"/>
                </a:solidFill>
              </a:rPr>
              <a:t>Our Proposed Solution</a:t>
            </a:r>
            <a:endParaRPr lang="en-US" sz="1800" dirty="0"/>
          </a:p>
          <a:p>
            <a:pPr marL="342900" indent="-342900">
              <a:spcAft>
                <a:spcPts val="2200"/>
              </a:spcAft>
              <a:buSzPct val="100000"/>
              <a:buFont typeface="+mj-lt"/>
              <a:buAutoNum type="arabicPeriod"/>
            </a:pPr>
            <a:r>
              <a:rPr lang="en-US" sz="1800" dirty="0">
                <a:solidFill>
                  <a:schemeClr val="tx1"/>
                </a:solidFill>
              </a:rPr>
              <a:t>Technical Approach</a:t>
            </a:r>
            <a:endParaRPr lang="en-US" sz="1800" dirty="0"/>
          </a:p>
          <a:p>
            <a:pPr marL="342900" indent="-342900">
              <a:spcAft>
                <a:spcPts val="2200"/>
              </a:spcAft>
              <a:buSzPct val="100000"/>
              <a:buFont typeface="+mj-lt"/>
              <a:buAutoNum type="arabicPeriod"/>
            </a:pPr>
            <a:r>
              <a:rPr lang="en-US" sz="1800" dirty="0">
                <a:solidFill>
                  <a:schemeClr val="tx1"/>
                </a:solidFill>
              </a:rPr>
              <a:t>Innovation &amp; Uniqueness</a:t>
            </a:r>
            <a:endParaRPr lang="en-US" sz="1800" dirty="0"/>
          </a:p>
        </p:txBody>
      </p:sp>
      <p:sp>
        <p:nvSpPr>
          <p:cNvPr id="4" name="Outline 7-12"/>
          <p:cNvSpPr txBox="1"/>
          <p:nvPr/>
        </p:nvSpPr>
        <p:spPr>
          <a:xfrm>
            <a:off x="4754880" y="1188720"/>
            <a:ext cx="3840480" cy="5029200"/>
          </a:xfrm>
          <a:prstGeom prst="rect">
            <a:avLst/>
          </a:prstGeom>
          <a:noFill/>
          <a:ln/>
        </p:spPr>
        <p:txBody>
          <a:bodyPr wrap="square" rtlCol="0" anchor="ctr"/>
          <a:lstStyle/>
          <a:p>
            <a:pPr marL="342900" indent="-342900">
              <a:spcAft>
                <a:spcPts val="2200"/>
              </a:spcAft>
              <a:buSzPct val="100000"/>
              <a:buFont typeface="+mj-lt"/>
              <a:buAutoNum type="arabicPeriod" startAt="7"/>
            </a:pPr>
            <a:r>
              <a:rPr lang="en-US" sz="1800" dirty="0">
                <a:solidFill>
                  <a:schemeClr val="tx1"/>
                </a:solidFill>
              </a:rPr>
              <a:t>Feasibility &amp; Scalability</a:t>
            </a:r>
            <a:endParaRPr lang="en-US" sz="1800" dirty="0"/>
          </a:p>
          <a:p>
            <a:pPr marL="342900" indent="-342900">
              <a:spcAft>
                <a:spcPts val="2200"/>
              </a:spcAft>
              <a:buSzPct val="100000"/>
              <a:buFont typeface="+mj-lt"/>
              <a:buAutoNum type="arabicPeriod" startAt="7"/>
            </a:pPr>
            <a:r>
              <a:rPr lang="en-US" sz="1800" dirty="0">
                <a:solidFill>
                  <a:schemeClr val="tx1"/>
                </a:solidFill>
              </a:rPr>
              <a:t>Cost for Product</a:t>
            </a:r>
            <a:endParaRPr lang="en-US" sz="1800" dirty="0"/>
          </a:p>
          <a:p>
            <a:pPr marL="342900" indent="-342900">
              <a:spcAft>
                <a:spcPts val="2200"/>
              </a:spcAft>
              <a:buSzPct val="100000"/>
              <a:buFont typeface="+mj-lt"/>
              <a:buAutoNum type="arabicPeriod" startAt="7"/>
            </a:pPr>
            <a:r>
              <a:rPr lang="en-US" sz="1800" dirty="0">
                <a:solidFill>
                  <a:schemeClr val="tx1"/>
                </a:solidFill>
              </a:rPr>
              <a:t>Use Cases</a:t>
            </a:r>
            <a:endParaRPr lang="en-US" sz="1800" dirty="0"/>
          </a:p>
          <a:p>
            <a:pPr marL="342900" indent="-342900">
              <a:spcAft>
                <a:spcPts val="2200"/>
              </a:spcAft>
              <a:buSzPct val="100000"/>
              <a:buFont typeface="+mj-lt"/>
              <a:buAutoNum type="arabicPeriod" startAt="7"/>
            </a:pPr>
            <a:r>
              <a:rPr lang="en-US" sz="1800" dirty="0">
                <a:solidFill>
                  <a:schemeClr val="tx1"/>
                </a:solidFill>
              </a:rPr>
              <a:t>Impacts and Benefits</a:t>
            </a:r>
            <a:endParaRPr lang="en-US" sz="1800" dirty="0"/>
          </a:p>
          <a:p>
            <a:pPr marL="342900" indent="-342900">
              <a:spcAft>
                <a:spcPts val="2200"/>
              </a:spcAft>
              <a:buSzPct val="100000"/>
              <a:buFont typeface="+mj-lt"/>
              <a:buAutoNum type="arabicPeriod" startAt="7"/>
            </a:pPr>
            <a:r>
              <a:rPr lang="en-US" sz="1800" dirty="0">
                <a:solidFill>
                  <a:schemeClr val="tx1"/>
                </a:solidFill>
              </a:rPr>
              <a:t>Sustainable Development Goals</a:t>
            </a:r>
            <a:endParaRPr lang="en-US" sz="1800" dirty="0"/>
          </a:p>
          <a:p>
            <a:pPr marL="342900" indent="-342900">
              <a:spcAft>
                <a:spcPts val="2200"/>
              </a:spcAft>
              <a:buSzPct val="100000"/>
              <a:buFont typeface="+mj-lt"/>
              <a:buAutoNum type="arabicPeriod" startAt="7"/>
            </a:pPr>
            <a:r>
              <a:rPr lang="en-US" sz="1800" dirty="0">
                <a:solidFill>
                  <a:schemeClr val="tx1"/>
                </a:solidFill>
              </a:rPr>
              <a:t>Individual Member Contribution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Problem Statement</a:t>
            </a:r>
            <a:endParaRPr lang="en-US" sz="2400" dirty="0"/>
          </a:p>
        </p:txBody>
      </p:sp>
      <p:sp>
        <p:nvSpPr>
          <p:cNvPr id="3" name="Problem panel"/>
          <p:cNvSpPr/>
          <p:nvPr/>
        </p:nvSpPr>
        <p:spPr>
          <a:xfrm>
            <a:off x="539495" y="2355639"/>
            <a:ext cx="7611381" cy="1604741"/>
          </a:xfrm>
          <a:prstGeom prst="roundRect">
            <a:avLst>
              <a:gd name="adj" fmla="val 9709"/>
            </a:avLst>
          </a:prstGeom>
          <a:solidFill>
            <a:schemeClr val="bg2"/>
          </a:solidFill>
          <a:ln/>
        </p:spPr>
      </p:sp>
      <p:sp>
        <p:nvSpPr>
          <p:cNvPr id="4" name="Problem text"/>
          <p:cNvSpPr txBox="1"/>
          <p:nvPr/>
        </p:nvSpPr>
        <p:spPr>
          <a:xfrm>
            <a:off x="824745" y="2682038"/>
            <a:ext cx="7040880" cy="941832"/>
          </a:xfrm>
          <a:prstGeom prst="rect">
            <a:avLst/>
          </a:prstGeom>
          <a:noFill/>
          <a:ln/>
        </p:spPr>
        <p:txBody>
          <a:bodyPr wrap="square" lIns="0" tIns="0" rIns="0" bIns="0" rtlCol="0" anchor="ctr"/>
          <a:lstStyle/>
          <a:p>
            <a:pPr marL="0" indent="0" algn="ctr">
              <a:buNone/>
            </a:pPr>
            <a:r>
              <a:rPr lang="en-US" sz="2800" b="1" dirty="0"/>
              <a:t>OFFLINE-FIRST AI ASSISTANCE FOR LOW               CONNECTIVITY REGION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Problem Understanding</a:t>
            </a:r>
            <a:endParaRPr lang="en-US" sz="2400" dirty="0"/>
          </a:p>
        </p:txBody>
      </p:sp>
      <p:sp>
        <p:nvSpPr>
          <p:cNvPr id="3" name="Body bullets"/>
          <p:cNvSpPr txBox="1"/>
          <p:nvPr/>
        </p:nvSpPr>
        <p:spPr>
          <a:xfrm>
            <a:off x="731520" y="1280160"/>
            <a:ext cx="7680960" cy="3566160"/>
          </a:xfrm>
          <a:prstGeom prst="rect">
            <a:avLst/>
          </a:prstGeom>
          <a:noFill/>
          <a:ln/>
        </p:spPr>
        <p:txBody>
          <a:bodyPr wrap="square" rtlCol="0" anchor="ctr"/>
          <a:lstStyle/>
          <a:p>
            <a:pPr marL="279400" indent="-279400">
              <a:spcAft>
                <a:spcPts val="2600"/>
              </a:spcAft>
              <a:buSzPct val="100000"/>
              <a:buChar char="■"/>
            </a:pPr>
            <a:r>
              <a:rPr lang="en-US" sz="1800" dirty="0">
                <a:solidFill>
                  <a:schemeClr val="tx1"/>
                </a:solidFill>
              </a:rPr>
              <a:t>Farmers, Rural Families, Low Literacy users</a:t>
            </a:r>
            <a:endParaRPr lang="en-US" sz="1800" dirty="0"/>
          </a:p>
          <a:p>
            <a:pPr marL="279400" indent="-279400">
              <a:spcAft>
                <a:spcPts val="2600"/>
              </a:spcAft>
              <a:buSzPct val="100000"/>
              <a:buChar char="■"/>
            </a:pPr>
            <a:r>
              <a:rPr lang="en-US" dirty="0"/>
              <a:t>Internet availability and AI’s dependency on data centers which can only be served using internet</a:t>
            </a:r>
            <a:endParaRPr lang="en-US" sz="1800" dirty="0"/>
          </a:p>
          <a:p>
            <a:pPr marL="279400" indent="-279400">
              <a:spcAft>
                <a:spcPts val="2600"/>
              </a:spcAft>
              <a:buSzPct val="100000"/>
              <a:buFontTx/>
              <a:buChar char="■"/>
            </a:pPr>
            <a:r>
              <a:rPr lang="en-IN" dirty="0"/>
              <a:t>Without internet, farmers, rural families and elders can't get timely help on schemes, farming and health. They lose time, money and benefits they are entitled to, and have to travel or rely on middlemen. Health workers, panchayats and NGOs end up answering the same questions one by one, so the digital divide keeps widening</a:t>
            </a:r>
            <a:r>
              <a:rPr lang="en-US" dirty="0"/>
              <a: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Existing Gaps &amp; Challenges</a:t>
            </a:r>
            <a:endParaRPr lang="en-US" sz="2400" dirty="0"/>
          </a:p>
        </p:txBody>
      </p:sp>
      <p:sp>
        <p:nvSpPr>
          <p:cNvPr id="3" name="Body bullets"/>
          <p:cNvSpPr txBox="1"/>
          <p:nvPr/>
        </p:nvSpPr>
        <p:spPr>
          <a:xfrm>
            <a:off x="731520" y="1280160"/>
            <a:ext cx="7680960" cy="3566160"/>
          </a:xfrm>
          <a:prstGeom prst="rect">
            <a:avLst/>
          </a:prstGeom>
          <a:noFill/>
          <a:ln/>
        </p:spPr>
        <p:txBody>
          <a:bodyPr wrap="square" rtlCol="0" anchor="ctr"/>
          <a:lstStyle/>
          <a:p>
            <a:pPr marL="279400" indent="-279400">
              <a:spcAft>
                <a:spcPts val="2600"/>
              </a:spcAft>
              <a:buSzPct val="100000"/>
              <a:buChar char="■"/>
            </a:pPr>
            <a:r>
              <a:rPr lang="en-IN" b="1" dirty="0"/>
              <a:t>Existing tools depend on the internet or a person.</a:t>
            </a:r>
            <a:r>
              <a:rPr lang="en-IN" dirty="0"/>
              <a:t> Cloud chatbots and WhatsApp bots need a signal, and helplines have waiting times and fixed hours, so people in low-connectivity areas can’t get help when they need it.</a:t>
            </a:r>
            <a:endParaRPr lang="en-US" sz="1800" dirty="0"/>
          </a:p>
          <a:p>
            <a:pPr marL="279400" indent="-279400">
              <a:spcAft>
                <a:spcPts val="2600"/>
              </a:spcAft>
              <a:buSzPct val="100000"/>
              <a:buChar char="■"/>
            </a:pPr>
            <a:r>
              <a:rPr lang="en-IN" b="1" dirty="0"/>
              <a:t>No single tool is offline, voice-based, regional-language and verified.</a:t>
            </a:r>
            <a:r>
              <a:rPr lang="en-IN" dirty="0"/>
              <a:t> Offline translators only translate and can’t answer questions, and most apps are English-first and need typing, which excludes elders and low-literacy users.</a:t>
            </a:r>
            <a:endParaRPr lang="en-US" sz="1800" dirty="0"/>
          </a:p>
          <a:p>
            <a:pPr marL="279400" indent="-279400">
              <a:spcAft>
                <a:spcPts val="2600"/>
              </a:spcAft>
              <a:buSzPct val="100000"/>
              <a:buFontTx/>
              <a:buChar char="■"/>
            </a:pPr>
            <a:r>
              <a:rPr lang="en-IN" dirty="0"/>
              <a:t>The main unsolved challenge is </a:t>
            </a:r>
            <a:r>
              <a:rPr lang="en-IN" b="1" dirty="0"/>
              <a:t>giving people reliable, spoken answers in their own language when they have no internet</a:t>
            </a:r>
            <a:r>
              <a:rPr lang="en-IN" dirty="0"/>
              <a:t>. Existing tools solve parts of it: some work offline, some understand voice, some cover regional languages. None of them does all of it together on a low-cost phone with verified information.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Our Proposed Solution</a:t>
            </a:r>
            <a:endParaRPr lang="en-US" sz="2400" dirty="0"/>
          </a:p>
        </p:txBody>
      </p:sp>
      <p:sp>
        <p:nvSpPr>
          <p:cNvPr id="3" name="Body bullets"/>
          <p:cNvSpPr txBox="1"/>
          <p:nvPr/>
        </p:nvSpPr>
        <p:spPr>
          <a:xfrm>
            <a:off x="731520" y="1280160"/>
            <a:ext cx="7680960" cy="3566160"/>
          </a:xfrm>
          <a:prstGeom prst="rect">
            <a:avLst/>
          </a:prstGeom>
          <a:noFill/>
          <a:ln/>
        </p:spPr>
        <p:txBody>
          <a:bodyPr wrap="square" rtlCol="0" anchor="ctr"/>
          <a:lstStyle/>
          <a:p>
            <a:pPr marL="279400" indent="-279400">
              <a:spcAft>
                <a:spcPts val="2600"/>
              </a:spcAft>
              <a:buSzPct val="100000"/>
              <a:buChar char="■"/>
            </a:pPr>
            <a:r>
              <a:rPr lang="en-US" dirty="0"/>
              <a:t>An application which works without internet in mobile phones of even old models with just 4 to 6 GB of ram which can answer within a certain field.</a:t>
            </a:r>
            <a:endParaRPr lang="en-US" sz="1800" dirty="0"/>
          </a:p>
          <a:p>
            <a:pPr marL="279400" indent="-279400">
              <a:spcAft>
                <a:spcPts val="2600"/>
              </a:spcAft>
              <a:buSzPct val="100000"/>
              <a:buChar char="■"/>
            </a:pPr>
            <a:r>
              <a:rPr lang="en-IN" dirty="0"/>
              <a:t>The user speaks a question in their own language, and the phone’s offline speech tool turns it into text. The app then looks up verified facts in a local knowledge base stored on the phone, and a small compressed AI model uses those facts to write a simple answer. The phone reads the answer aloud, and all of this happens on the device with no internet.</a:t>
            </a:r>
            <a:endParaRPr lang="en-US" sz="1800" dirty="0"/>
          </a:p>
          <a:p>
            <a:pPr marL="279400" indent="-279400">
              <a:spcAft>
                <a:spcPts val="2600"/>
              </a:spcAft>
              <a:buSzPct val="100000"/>
              <a:buChar char="■"/>
            </a:pPr>
            <a:r>
              <a:rPr lang="en-US" dirty="0"/>
              <a:t>The user gets to work on their field without even a connection of internet, they can research, ask questions, and can do multitasks through this application . They also get the benefit of using this without even the fear of their data being stolen.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99AC80F-60A7-687A-AC71-C4EAB36E5EF6}"/>
              </a:ext>
            </a:extLst>
          </p:cNvPr>
          <p:cNvSpPr/>
          <p:nvPr/>
        </p:nvSpPr>
        <p:spPr>
          <a:xfrm>
            <a:off x="731520" y="1218758"/>
            <a:ext cx="7406640" cy="2210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Technical Approach</a:t>
            </a:r>
            <a:endParaRPr lang="en-US" sz="2400" dirty="0"/>
          </a:p>
        </p:txBody>
      </p:sp>
      <p:sp>
        <p:nvSpPr>
          <p:cNvPr id="3" name="Diagram placeholder box"/>
          <p:cNvSpPr/>
          <p:nvPr/>
        </p:nvSpPr>
        <p:spPr>
          <a:xfrm>
            <a:off x="1042416" y="1362456"/>
            <a:ext cx="7068312" cy="2066544"/>
          </a:xfrm>
          <a:prstGeom prst="roundRect">
            <a:avLst>
              <a:gd name="adj" fmla="val 4425"/>
            </a:avLst>
          </a:prstGeom>
          <a:solidFill>
            <a:schemeClr val="accent3"/>
          </a:solidFill>
          <a:ln w="19050">
            <a:solidFill>
              <a:schemeClr val="accent1"/>
            </a:solidFill>
            <a:prstDash val="dash"/>
          </a:ln>
        </p:spPr>
      </p:sp>
      <p:sp>
        <p:nvSpPr>
          <p:cNvPr id="4" name="Diagram placeholder text"/>
          <p:cNvSpPr txBox="1"/>
          <p:nvPr/>
        </p:nvSpPr>
        <p:spPr>
          <a:xfrm>
            <a:off x="1033272" y="1362456"/>
            <a:ext cx="7077456" cy="2066544"/>
          </a:xfrm>
          <a:prstGeom prst="rect">
            <a:avLst/>
          </a:prstGeom>
          <a:noFill/>
          <a:ln/>
        </p:spPr>
        <p:txBody>
          <a:bodyPr wrap="square" rtlCol="0" anchor="ctr"/>
          <a:lstStyle/>
          <a:p>
            <a:pPr marL="0" indent="0" algn="ctr">
              <a:buNone/>
            </a:pPr>
            <a:endParaRPr lang="en-US" sz="1800" dirty="0"/>
          </a:p>
        </p:txBody>
      </p:sp>
      <p:sp>
        <p:nvSpPr>
          <p:cNvPr id="5" name="Components explanation"/>
          <p:cNvSpPr txBox="1"/>
          <p:nvPr/>
        </p:nvSpPr>
        <p:spPr>
          <a:xfrm>
            <a:off x="649224" y="4074908"/>
            <a:ext cx="7763256" cy="425408"/>
          </a:xfrm>
          <a:prstGeom prst="rect">
            <a:avLst/>
          </a:prstGeom>
          <a:noFill/>
          <a:ln/>
        </p:spPr>
        <p:txBody>
          <a:bodyPr wrap="square" rtlCol="0" anchor="ctr"/>
          <a:lstStyle/>
          <a:p>
            <a:r>
              <a:rPr lang="en-IN" sz="1400" b="1" dirty="0"/>
              <a:t>The user speaks in their own language, and the offline speech-to-text system converts their voice into text that the AI can understand. The Retrieval-Augmented Generation (RAG) component searches locally stored, verified information to find relevant facts.</a:t>
            </a:r>
          </a:p>
          <a:p>
            <a:r>
              <a:rPr lang="en-IN" sz="1400" b="1" dirty="0"/>
              <a:t>A small, compressed artificial intelligence model uses the question and retrieved information to generate an appropriate answer. Finally, the text-to-speech component converts the answer into spoken audio, allowing the user to receive assistance without an internet connection.</a:t>
            </a:r>
          </a:p>
          <a:p>
            <a:pPr marL="0" indent="0" algn="ctr">
              <a:buNone/>
            </a:pPr>
            <a:endParaRPr lang="en-US" sz="1200" dirty="0"/>
          </a:p>
        </p:txBody>
      </p:sp>
      <p:sp>
        <p:nvSpPr>
          <p:cNvPr id="6" name="Tech stack card"/>
          <p:cNvSpPr/>
          <p:nvPr/>
        </p:nvSpPr>
        <p:spPr>
          <a:xfrm>
            <a:off x="585216" y="4983480"/>
            <a:ext cx="7699248" cy="1417320"/>
          </a:xfrm>
          <a:prstGeom prst="roundRect">
            <a:avLst>
              <a:gd name="adj" fmla="val 6452"/>
            </a:avLst>
          </a:prstGeom>
          <a:solidFill>
            <a:schemeClr val="bg2"/>
          </a:solidFill>
          <a:ln/>
        </p:spPr>
      </p:sp>
      <p:sp>
        <p:nvSpPr>
          <p:cNvPr id="7" name="Tech stack heading"/>
          <p:cNvSpPr txBox="1"/>
          <p:nvPr/>
        </p:nvSpPr>
        <p:spPr>
          <a:xfrm>
            <a:off x="832104" y="5029200"/>
            <a:ext cx="3657600" cy="365760"/>
          </a:xfrm>
          <a:prstGeom prst="rect">
            <a:avLst/>
          </a:prstGeom>
          <a:noFill/>
          <a:ln/>
        </p:spPr>
        <p:txBody>
          <a:bodyPr wrap="square" lIns="0" tIns="0" rIns="0" bIns="0" rtlCol="0" anchor="ctr"/>
          <a:lstStyle/>
          <a:p>
            <a:pPr marL="0" indent="0">
              <a:buNone/>
            </a:pPr>
            <a:r>
              <a:rPr lang="en-US" sz="1600" b="1" dirty="0">
                <a:solidFill>
                  <a:schemeClr val="tx1"/>
                </a:solidFill>
              </a:rPr>
              <a:t>Tech Stack</a:t>
            </a:r>
            <a:endParaRPr lang="en-US" sz="1600" dirty="0"/>
          </a:p>
        </p:txBody>
      </p:sp>
      <p:sp>
        <p:nvSpPr>
          <p:cNvPr id="8" name="Frontend"/>
          <p:cNvSpPr txBox="1"/>
          <p:nvPr/>
        </p:nvSpPr>
        <p:spPr>
          <a:xfrm>
            <a:off x="832104" y="5440680"/>
            <a:ext cx="2468880" cy="365760"/>
          </a:xfrm>
          <a:prstGeom prst="rect">
            <a:avLst/>
          </a:prstGeom>
          <a:noFill/>
          <a:ln/>
        </p:spPr>
        <p:txBody>
          <a:bodyPr wrap="square" lIns="0" tIns="0" rIns="0" bIns="0" rtlCol="0" anchor="ctr"/>
          <a:lstStyle/>
          <a:p>
            <a:pPr marL="0" indent="0">
              <a:buNone/>
            </a:pPr>
            <a:r>
              <a:rPr lang="en-US" sz="1600" b="1" dirty="0">
                <a:solidFill>
                  <a:schemeClr val="tx1"/>
                </a:solidFill>
              </a:rPr>
              <a:t>Frontend: K</a:t>
            </a:r>
            <a:r>
              <a:rPr lang="en-US" sz="1600" b="1" dirty="0"/>
              <a:t>otlin</a:t>
            </a:r>
            <a:endParaRPr lang="en-US" sz="1600" dirty="0"/>
          </a:p>
        </p:txBody>
      </p:sp>
      <p:sp>
        <p:nvSpPr>
          <p:cNvPr id="9" name="Backend"/>
          <p:cNvSpPr txBox="1"/>
          <p:nvPr/>
        </p:nvSpPr>
        <p:spPr>
          <a:xfrm>
            <a:off x="832104" y="5806440"/>
            <a:ext cx="2468880" cy="365760"/>
          </a:xfrm>
          <a:prstGeom prst="rect">
            <a:avLst/>
          </a:prstGeom>
          <a:noFill/>
          <a:ln/>
        </p:spPr>
        <p:txBody>
          <a:bodyPr wrap="square" lIns="0" tIns="0" rIns="0" bIns="0" rtlCol="0" anchor="ctr"/>
          <a:lstStyle/>
          <a:p>
            <a:pPr marL="0" indent="0">
              <a:buNone/>
            </a:pPr>
            <a:r>
              <a:rPr lang="en-US" sz="1600" b="1" dirty="0">
                <a:solidFill>
                  <a:schemeClr val="tx1"/>
                </a:solidFill>
              </a:rPr>
              <a:t>Backend: P</a:t>
            </a:r>
            <a:r>
              <a:rPr lang="en-US" sz="1600" b="1" dirty="0"/>
              <a:t>ython</a:t>
            </a:r>
            <a:endParaRPr lang="en-US" sz="1600" dirty="0"/>
          </a:p>
        </p:txBody>
      </p:sp>
      <p:sp>
        <p:nvSpPr>
          <p:cNvPr id="10" name="Database"/>
          <p:cNvSpPr txBox="1"/>
          <p:nvPr/>
        </p:nvSpPr>
        <p:spPr>
          <a:xfrm>
            <a:off x="3328416" y="5440680"/>
            <a:ext cx="4754880" cy="365760"/>
          </a:xfrm>
          <a:prstGeom prst="rect">
            <a:avLst/>
          </a:prstGeom>
          <a:noFill/>
          <a:ln/>
        </p:spPr>
        <p:txBody>
          <a:bodyPr wrap="square" lIns="0" tIns="0" rIns="0" bIns="0" rtlCol="0" anchor="ctr"/>
          <a:lstStyle/>
          <a:p>
            <a:pPr marL="0" indent="0">
              <a:buNone/>
            </a:pPr>
            <a:r>
              <a:rPr lang="en-US" sz="1600" b="1" dirty="0">
                <a:solidFill>
                  <a:schemeClr val="tx1"/>
                </a:solidFill>
              </a:rPr>
              <a:t>Database: </a:t>
            </a:r>
            <a:r>
              <a:rPr lang="en-US" sz="1600" b="1" dirty="0"/>
              <a:t>SQLite</a:t>
            </a:r>
            <a:endParaRPr lang="en-US" sz="1600" dirty="0"/>
          </a:p>
        </p:txBody>
      </p:sp>
      <p:sp>
        <p:nvSpPr>
          <p:cNvPr id="11" name="AI/ML, APIs, or Hardware"/>
          <p:cNvSpPr txBox="1"/>
          <p:nvPr/>
        </p:nvSpPr>
        <p:spPr>
          <a:xfrm>
            <a:off x="3328416" y="5923844"/>
            <a:ext cx="4754880" cy="365760"/>
          </a:xfrm>
          <a:prstGeom prst="rect">
            <a:avLst/>
          </a:prstGeom>
          <a:noFill/>
          <a:ln/>
        </p:spPr>
        <p:txBody>
          <a:bodyPr wrap="square" lIns="0" tIns="0" rIns="0" bIns="0" rtlCol="0" anchor="ctr"/>
          <a:lstStyle/>
          <a:p>
            <a:r>
              <a:rPr lang="en-US" sz="1600" b="1" dirty="0">
                <a:solidFill>
                  <a:schemeClr val="tx1"/>
                </a:solidFill>
              </a:rPr>
              <a:t>AI/ML, APIs, or Hardware: </a:t>
            </a:r>
            <a:r>
              <a:rPr lang="en-IN" sz="1600" b="1" dirty="0"/>
              <a:t>Small Language Model (SLM), offline Speech-to-Text, Text-to-Speech</a:t>
            </a:r>
            <a:endParaRPr lang="en-US" sz="1600" b="1" dirty="0"/>
          </a:p>
        </p:txBody>
      </p:sp>
      <p:pic>
        <p:nvPicPr>
          <p:cNvPr id="13" name="Picture 12">
            <a:extLst>
              <a:ext uri="{FF2B5EF4-FFF2-40B4-BE49-F238E27FC236}">
                <a16:creationId xmlns:a16="http://schemas.microsoft.com/office/drawing/2014/main" id="{A91F16E2-E166-BA4C-8D3F-18DCEAEB7640}"/>
              </a:ext>
            </a:extLst>
          </p:cNvPr>
          <p:cNvPicPr>
            <a:picLocks noChangeAspect="1"/>
          </p:cNvPicPr>
          <p:nvPr/>
        </p:nvPicPr>
        <p:blipFill>
          <a:blip r:embed="rId3"/>
          <a:stretch>
            <a:fillRect/>
          </a:stretch>
        </p:blipFill>
        <p:spPr>
          <a:xfrm>
            <a:off x="290670" y="1028700"/>
            <a:ext cx="8562659" cy="2514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Innovation &amp; Uniqueness</a:t>
            </a:r>
            <a:endParaRPr lang="en-US" sz="2400" dirty="0"/>
          </a:p>
        </p:txBody>
      </p:sp>
      <p:sp>
        <p:nvSpPr>
          <p:cNvPr id="3" name="Body bullets"/>
          <p:cNvSpPr txBox="1"/>
          <p:nvPr/>
        </p:nvSpPr>
        <p:spPr>
          <a:xfrm>
            <a:off x="731520" y="1280160"/>
            <a:ext cx="7680960" cy="3566160"/>
          </a:xfrm>
          <a:prstGeom prst="rect">
            <a:avLst/>
          </a:prstGeom>
          <a:noFill/>
          <a:ln/>
        </p:spPr>
        <p:txBody>
          <a:bodyPr wrap="square" rtlCol="0" anchor="ctr"/>
          <a:lstStyle/>
          <a:p>
            <a:pPr marL="279400" indent="-279400">
              <a:spcAft>
                <a:spcPts val="2600"/>
              </a:spcAft>
              <a:buSzPct val="100000"/>
              <a:buChar char="■"/>
            </a:pPr>
            <a:r>
              <a:rPr lang="en-IN" dirty="0"/>
              <a:t>Provides AI assistance offline using on-device AI and locally stored information, reducing dependence on internet connectivity.</a:t>
            </a:r>
            <a:endParaRPr lang="en-US" sz="1800" dirty="0"/>
          </a:p>
          <a:p>
            <a:pPr marL="279400" indent="-279400">
              <a:spcAft>
                <a:spcPts val="2600"/>
              </a:spcAft>
              <a:buSzPct val="100000"/>
              <a:buChar char="■"/>
            </a:pPr>
            <a:r>
              <a:rPr lang="en-IN" dirty="0"/>
              <a:t>It supports users in rural and remote areas where internet access is weak, unreliable, or unavailable.</a:t>
            </a:r>
            <a:endParaRPr lang="en-US" sz="1800" dirty="0"/>
          </a:p>
          <a:p>
            <a:pPr marL="279400" indent="-279400">
              <a:spcAft>
                <a:spcPts val="2600"/>
              </a:spcAft>
              <a:buSzPct val="100000"/>
              <a:buFontTx/>
              <a:buChar char="■"/>
            </a:pPr>
            <a:r>
              <a:rPr lang="en-IN" dirty="0"/>
              <a:t>Combines offline AI, local knowledge retrieval, and voice-based interaction to make information more accessible.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Feasibility &amp; Scalability</a:t>
            </a:r>
            <a:endParaRPr lang="en-US" sz="2400" dirty="0"/>
          </a:p>
        </p:txBody>
      </p:sp>
      <p:sp>
        <p:nvSpPr>
          <p:cNvPr id="3" name="Bullet marker 1"/>
          <p:cNvSpPr/>
          <p:nvPr/>
        </p:nvSpPr>
        <p:spPr>
          <a:xfrm>
            <a:off x="749808" y="2720038"/>
            <a:ext cx="100584" cy="100584"/>
          </a:xfrm>
          <a:prstGeom prst="rect">
            <a:avLst/>
          </a:prstGeom>
          <a:solidFill>
            <a:schemeClr val="tx1"/>
          </a:solidFill>
          <a:ln/>
        </p:spPr>
      </p:sp>
      <p:sp>
        <p:nvSpPr>
          <p:cNvPr id="4" name="Feasibility"/>
          <p:cNvSpPr txBox="1"/>
          <p:nvPr/>
        </p:nvSpPr>
        <p:spPr>
          <a:xfrm>
            <a:off x="1005840" y="2670048"/>
            <a:ext cx="7406640" cy="457200"/>
          </a:xfrm>
          <a:prstGeom prst="rect">
            <a:avLst/>
          </a:prstGeom>
          <a:noFill/>
          <a:ln/>
        </p:spPr>
        <p:txBody>
          <a:bodyPr wrap="square" lIns="0" tIns="0" rIns="0" bIns="0" rtlCol="0" anchor="ctr"/>
          <a:lstStyle/>
          <a:p>
            <a:r>
              <a:rPr lang="en-US" sz="1800" b="1" dirty="0">
                <a:solidFill>
                  <a:schemeClr val="tx1"/>
                </a:solidFill>
              </a:rPr>
              <a:t>Feasibility:</a:t>
            </a:r>
            <a:r>
              <a:rPr lang="en-IN" dirty="0"/>
              <a:t>Can be developed using a smartphone, a small AI model, offline speech tools, and a locally stored knowledge database.</a:t>
            </a:r>
            <a:endParaRPr lang="en-US" sz="1800" dirty="0"/>
          </a:p>
        </p:txBody>
      </p:sp>
      <p:sp>
        <p:nvSpPr>
          <p:cNvPr id="5" name="Bullet marker 2"/>
          <p:cNvSpPr/>
          <p:nvPr/>
        </p:nvSpPr>
        <p:spPr>
          <a:xfrm>
            <a:off x="762676" y="3461125"/>
            <a:ext cx="100584" cy="100584"/>
          </a:xfrm>
          <a:prstGeom prst="rect">
            <a:avLst/>
          </a:prstGeom>
          <a:solidFill>
            <a:schemeClr val="tx1"/>
          </a:solidFill>
          <a:ln/>
        </p:spPr>
      </p:sp>
      <p:sp>
        <p:nvSpPr>
          <p:cNvPr id="6" name="Scalability"/>
          <p:cNvSpPr txBox="1"/>
          <p:nvPr/>
        </p:nvSpPr>
        <p:spPr>
          <a:xfrm>
            <a:off x="1005840" y="3396996"/>
            <a:ext cx="7406640" cy="457200"/>
          </a:xfrm>
          <a:prstGeom prst="rect">
            <a:avLst/>
          </a:prstGeom>
          <a:noFill/>
          <a:ln/>
        </p:spPr>
        <p:txBody>
          <a:bodyPr wrap="square" lIns="0" tIns="0" rIns="0" bIns="0" rtlCol="0" anchor="ctr"/>
          <a:lstStyle/>
          <a:p>
            <a:r>
              <a:rPr lang="en-US" sz="1800" b="1" dirty="0">
                <a:solidFill>
                  <a:schemeClr val="tx1"/>
                </a:solidFill>
              </a:rPr>
              <a:t>Scalability:</a:t>
            </a:r>
            <a:r>
              <a:rPr lang="en-IN" dirty="0"/>
              <a:t>Can be expanded by adding more languages, new knowledge resources, and support for more low-connectivity regions.</a:t>
            </a:r>
            <a:endParaRPr lang="en-US" sz="1800" dirty="0"/>
          </a:p>
        </p:txBody>
      </p:sp>
      <p:sp>
        <p:nvSpPr>
          <p:cNvPr id="7" name="Bullet marker 3"/>
          <p:cNvSpPr/>
          <p:nvPr/>
        </p:nvSpPr>
        <p:spPr>
          <a:xfrm>
            <a:off x="762676" y="4202212"/>
            <a:ext cx="100584" cy="100584"/>
          </a:xfrm>
          <a:prstGeom prst="rect">
            <a:avLst/>
          </a:prstGeom>
          <a:solidFill>
            <a:schemeClr val="tx1"/>
          </a:solidFill>
          <a:ln/>
        </p:spPr>
      </p:sp>
      <p:sp>
        <p:nvSpPr>
          <p:cNvPr id="8" name="Risks"/>
          <p:cNvSpPr txBox="1"/>
          <p:nvPr/>
        </p:nvSpPr>
        <p:spPr>
          <a:xfrm>
            <a:off x="1048230" y="4282056"/>
            <a:ext cx="7406640" cy="457200"/>
          </a:xfrm>
          <a:prstGeom prst="rect">
            <a:avLst/>
          </a:prstGeom>
          <a:noFill/>
          <a:ln/>
        </p:spPr>
        <p:txBody>
          <a:bodyPr wrap="square" lIns="0" tIns="0" rIns="0" bIns="0" rtlCol="0" anchor="ctr"/>
          <a:lstStyle/>
          <a:p>
            <a:r>
              <a:rPr lang="en-US" sz="1800" b="1" dirty="0">
                <a:solidFill>
                  <a:schemeClr val="tx1"/>
                </a:solidFill>
              </a:rPr>
              <a:t>Risks: </a:t>
            </a:r>
            <a:r>
              <a:rPr lang="en-IN" dirty="0"/>
              <a:t>Limited device memory, battery usage, and outdated information can be addressed using lightweight models, optimized storage, and regular offline updates.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Cost for Product (Optional)</a:t>
            </a:r>
            <a:endParaRPr lang="en-US" sz="2400" dirty="0"/>
          </a:p>
        </p:txBody>
      </p:sp>
      <p:sp>
        <p:nvSpPr>
          <p:cNvPr id="3" name="Body bullets"/>
          <p:cNvSpPr txBox="1"/>
          <p:nvPr/>
        </p:nvSpPr>
        <p:spPr>
          <a:xfrm>
            <a:off x="731520" y="1280160"/>
            <a:ext cx="7680960" cy="3566160"/>
          </a:xfrm>
          <a:prstGeom prst="rect">
            <a:avLst/>
          </a:prstGeom>
          <a:noFill/>
          <a:ln/>
        </p:spPr>
        <p:txBody>
          <a:bodyPr wrap="square" rtlCol="0" anchor="ctr"/>
          <a:lstStyle/>
          <a:p>
            <a:pPr marL="279400" indent="-279400">
              <a:spcAft>
                <a:spcPts val="2600"/>
              </a:spcAft>
              <a:buSzPct val="100000"/>
              <a:buChar char="■"/>
            </a:pPr>
            <a:r>
              <a:rPr lang="en-US" sz="1800" dirty="0">
                <a:solidFill>
                  <a:schemeClr val="tx1"/>
                </a:solidFill>
              </a:rPr>
              <a:t>Development or hardware cost: 6500 rupees</a:t>
            </a:r>
            <a:endParaRPr lang="en-US" sz="1800" dirty="0"/>
          </a:p>
          <a:p>
            <a:pPr marL="279400" indent="-279400">
              <a:spcAft>
                <a:spcPts val="2600"/>
              </a:spcAft>
              <a:buSzPct val="100000"/>
              <a:buChar char="■"/>
            </a:pPr>
            <a:r>
              <a:rPr lang="en-US" sz="1800" dirty="0">
                <a:solidFill>
                  <a:schemeClr val="tx1"/>
                </a:solidFill>
              </a:rPr>
              <a:t>Hosting or maintenance cost: </a:t>
            </a:r>
            <a:r>
              <a:rPr lang="en-US" dirty="0"/>
              <a:t>1000 per year</a:t>
            </a:r>
            <a:endParaRPr lang="en-US" sz="1800" dirty="0"/>
          </a:p>
          <a:p>
            <a:pPr marL="279400" indent="-279400">
              <a:spcAft>
                <a:spcPts val="2600"/>
              </a:spcAft>
              <a:buSzPct val="100000"/>
              <a:buChar char="■"/>
            </a:pPr>
            <a:r>
              <a:rPr lang="en-US" sz="1800" dirty="0">
                <a:solidFill>
                  <a:schemeClr val="tx1"/>
                </a:solidFill>
              </a:rPr>
              <a:t>Estimated total: </a:t>
            </a:r>
            <a:r>
              <a:rPr lang="en-US" dirty="0"/>
              <a:t>7500 rupees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Use Cases </a:t>
            </a:r>
            <a:r>
              <a:rPr lang="en-US" sz="1600" dirty="0"/>
              <a:t>:</a:t>
            </a:r>
            <a:endParaRPr lang="en-US" sz="2400" dirty="0"/>
          </a:p>
        </p:txBody>
      </p:sp>
      <p:sp>
        <p:nvSpPr>
          <p:cNvPr id="3" name="Use case bullets"/>
          <p:cNvSpPr txBox="1"/>
          <p:nvPr/>
        </p:nvSpPr>
        <p:spPr>
          <a:xfrm>
            <a:off x="731520" y="1463040"/>
            <a:ext cx="7680960" cy="2651760"/>
          </a:xfrm>
          <a:prstGeom prst="rect">
            <a:avLst/>
          </a:prstGeom>
          <a:noFill/>
          <a:ln/>
        </p:spPr>
        <p:txBody>
          <a:bodyPr wrap="square" rtlCol="0" anchor="ctr"/>
          <a:lstStyle/>
          <a:p>
            <a:pPr marL="279400" indent="-279400">
              <a:spcAft>
                <a:spcPts val="2600"/>
              </a:spcAft>
              <a:buSzPct val="100000"/>
              <a:buChar char="■"/>
            </a:pPr>
            <a:r>
              <a:rPr lang="en-US" sz="1800" dirty="0">
                <a:solidFill>
                  <a:schemeClr val="tx1"/>
                </a:solidFill>
              </a:rPr>
              <a:t>Use case 1</a:t>
            </a:r>
            <a:r>
              <a:rPr lang="en-US" sz="1800" b="1" dirty="0">
                <a:solidFill>
                  <a:schemeClr val="tx1"/>
                </a:solidFill>
              </a:rPr>
              <a:t>: Early Disease detection</a:t>
            </a:r>
            <a:r>
              <a:rPr lang="en-US" sz="1800" dirty="0">
                <a:solidFill>
                  <a:schemeClr val="tx1"/>
                </a:solidFill>
              </a:rPr>
              <a:t>: Small holder farmers spot crop infections instantly using on –device edge AI camera scans.</a:t>
            </a:r>
            <a:endParaRPr lang="en-US" sz="1800" dirty="0"/>
          </a:p>
          <a:p>
            <a:pPr marL="279400" indent="-279400">
              <a:spcAft>
                <a:spcPts val="2600"/>
              </a:spcAft>
              <a:buSzPct val="100000"/>
              <a:buChar char="■"/>
            </a:pPr>
            <a:r>
              <a:rPr lang="en-US" sz="1800" dirty="0">
                <a:solidFill>
                  <a:schemeClr val="tx1"/>
                </a:solidFill>
              </a:rPr>
              <a:t>Use case 2: </a:t>
            </a:r>
            <a:r>
              <a:rPr lang="en-US" b="1" dirty="0"/>
              <a:t>Precision Irrigation</a:t>
            </a:r>
            <a:r>
              <a:rPr lang="en-US" dirty="0"/>
              <a:t>: agricultural co-ops optimize water usage locally based on real time soil sensor metrics</a:t>
            </a:r>
            <a:endParaRPr lang="en-US" sz="1800" dirty="0"/>
          </a:p>
          <a:p>
            <a:pPr marL="279400" indent="-279400">
              <a:spcAft>
                <a:spcPts val="2600"/>
              </a:spcAft>
              <a:buSzPct val="100000"/>
              <a:buChar char="■"/>
            </a:pPr>
            <a:r>
              <a:rPr lang="en-US" sz="1800" dirty="0">
                <a:solidFill>
                  <a:schemeClr val="tx1"/>
                </a:solidFill>
              </a:rPr>
              <a:t>Use case 3: </a:t>
            </a:r>
            <a:r>
              <a:rPr lang="en-IN" b="1" dirty="0"/>
              <a:t>Offline Field Advisory</a:t>
            </a:r>
            <a:r>
              <a:rPr lang="en-IN" dirty="0"/>
              <a:t>: Remote farm managers execute diagnostics without relying on continuous cloud connectivity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Impacts and Benefits</a:t>
            </a:r>
            <a:endParaRPr lang="en-US" sz="2400" dirty="0"/>
          </a:p>
        </p:txBody>
      </p:sp>
      <p:sp>
        <p:nvSpPr>
          <p:cNvPr id="3" name="Body bullets"/>
          <p:cNvSpPr txBox="1"/>
          <p:nvPr/>
        </p:nvSpPr>
        <p:spPr>
          <a:xfrm>
            <a:off x="731520" y="1280160"/>
            <a:ext cx="7680960" cy="3566160"/>
          </a:xfrm>
          <a:prstGeom prst="rect">
            <a:avLst/>
          </a:prstGeom>
          <a:noFill/>
          <a:ln/>
        </p:spPr>
        <p:txBody>
          <a:bodyPr wrap="square" rtlCol="0" anchor="ctr"/>
          <a:lstStyle/>
          <a:p>
            <a:pPr marL="285750" indent="-285750">
              <a:spcAft>
                <a:spcPts val="2600"/>
              </a:spcAft>
              <a:buSzPct val="100000"/>
              <a:buFont typeface="Wingdings" panose="05000000000000000000" pitchFamily="2" charset="2"/>
              <a:buChar char="§"/>
            </a:pPr>
            <a:r>
              <a:rPr lang="en-IN" dirty="0"/>
              <a:t>Accurate answers in seconds, by voice, on a mid-range phone with no internet, private and with zero data cost.</a:t>
            </a:r>
            <a:endParaRPr lang="en-US" sz="1800" dirty="0"/>
          </a:p>
          <a:p>
            <a:pPr marL="285750" lvl="0" indent="-285750">
              <a:buFont typeface="Wingdings" panose="05000000000000000000" pitchFamily="2" charset="2"/>
              <a:buChar char="§"/>
            </a:pPr>
            <a:r>
              <a:rPr lang="en-IN" b="1" dirty="0"/>
              <a:t>Social Impact:</a:t>
            </a:r>
            <a:r>
              <a:rPr lang="en-IN" dirty="0"/>
              <a:t> Protects farmer livelihoods and bridges the digital divide by delivering offline, multi-language crop diagnostics to remote communities.</a:t>
            </a:r>
          </a:p>
          <a:p>
            <a:pPr lvl="0"/>
            <a:r>
              <a:rPr lang="en-IN" b="1" dirty="0"/>
              <a:t>     Environmental Impact:</a:t>
            </a:r>
            <a:r>
              <a:rPr lang="en-IN" dirty="0"/>
              <a:t> Reduces chemical runoff and conserves water       through precise, edge sensor-driven irrigation and disease treatment.</a:t>
            </a:r>
          </a:p>
          <a:p>
            <a:pPr marL="285750" indent="-285750">
              <a:spcAft>
                <a:spcPts val="2600"/>
              </a:spcAft>
              <a:buSzPct val="100000"/>
              <a:buFont typeface="Wingdings" panose="05000000000000000000" pitchFamily="2" charset="2"/>
              <a:buChar char="§"/>
            </a:pPr>
            <a:r>
              <a:rPr lang="en-IN" dirty="0"/>
              <a:t>Instant crop disease and soil diagnosis deployed locally on low-cost hardware without requiring internet connectivity.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Sustainable Development Goals (SDGs)</a:t>
            </a:r>
            <a:endParaRPr lang="en-US" sz="2400" dirty="0"/>
          </a:p>
        </p:txBody>
      </p:sp>
      <p:graphicFrame>
        <p:nvGraphicFramePr>
          <p:cNvPr id="14" name="SDG table"/>
          <p:cNvGraphicFramePr>
            <a:graphicFrameLocks noGrp="1"/>
          </p:cNvGraphicFramePr>
          <p:nvPr>
            <p:extLst>
              <p:ext uri="{D42A27DB-BD31-4B8C-83A1-F6EECF244321}">
                <p14:modId xmlns:p14="http://schemas.microsoft.com/office/powerpoint/2010/main" val="4215209024"/>
              </p:ext>
            </p:extLst>
          </p:nvPr>
        </p:nvGraphicFramePr>
        <p:xfrm>
          <a:off x="649224" y="2286000"/>
          <a:ext cx="7845552" cy="2798064"/>
        </p:xfrm>
        <a:graphic>
          <a:graphicData uri="http://schemas.openxmlformats.org/drawingml/2006/table">
            <a:tbl>
              <a:tblPr/>
              <a:tblGrid>
                <a:gridCol w="1709928">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1956816">
                  <a:extLst>
                    <a:ext uri="{9D8B030D-6E8A-4147-A177-3AD203B41FA5}">
                      <a16:colId xmlns:a16="http://schemas.microsoft.com/office/drawing/2014/main" val="20002"/>
                    </a:ext>
                  </a:extLst>
                </a:gridCol>
                <a:gridCol w="2368296">
                  <a:extLst>
                    <a:ext uri="{9D8B030D-6E8A-4147-A177-3AD203B41FA5}">
                      <a16:colId xmlns:a16="http://schemas.microsoft.com/office/drawing/2014/main" val="20003"/>
                    </a:ext>
                  </a:extLst>
                </a:gridCol>
              </a:tblGrid>
              <a:tr h="585216">
                <a:tc>
                  <a:txBody>
                    <a:bodyPr/>
                    <a:lstStyle/>
                    <a:p>
                      <a:pPr marL="0" indent="0" algn="l">
                        <a:buNone/>
                      </a:pPr>
                      <a:r>
                        <a:rPr lang="en-US" sz="1600" b="1" dirty="0">
                          <a:solidFill>
                            <a:schemeClr val="bg1"/>
                          </a:solidFill>
                        </a:rPr>
                        <a:t>SDG Number</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lgn="l">
                        <a:buNone/>
                      </a:pPr>
                      <a:r>
                        <a:rPr lang="en-US" sz="1600" b="1" dirty="0">
                          <a:solidFill>
                            <a:schemeClr val="bg1"/>
                          </a:solidFill>
                        </a:rPr>
                        <a:t>Target Number</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lgn="l">
                        <a:buNone/>
                      </a:pPr>
                      <a:r>
                        <a:rPr lang="en-US" sz="1600" b="1" dirty="0">
                          <a:solidFill>
                            <a:schemeClr val="bg1"/>
                          </a:solidFill>
                        </a:rPr>
                        <a:t>Goal Name</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lgn="l">
                        <a:buNone/>
                      </a:pPr>
                      <a:r>
                        <a:rPr lang="en-US" sz="1600" b="1" dirty="0">
                          <a:solidFill>
                            <a:schemeClr val="bg1"/>
                          </a:solidFill>
                        </a:rPr>
                        <a:t>Connection</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chemeClr val="tx1"/>
                          </a:solidFill>
                        </a:rPr>
                        <a:t>SDG 2</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Target 2.4</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Zero hunger</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IN" sz="1400" dirty="0"/>
                        <a:t>Early detection of crop diseases, pests, and nutrient deficits, directly promoting resilient agricultural practices.</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chemeClr val="tx1"/>
                          </a:solidFill>
                        </a:rPr>
                        <a:t>SDG 12</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tc>
                  <a:txBody>
                    <a:bodyPr/>
                    <a:lstStyle/>
                    <a:p>
                      <a:pPr marL="0" indent="0">
                        <a:buNone/>
                      </a:pPr>
                      <a:r>
                        <a:rPr lang="en-US" sz="1400" dirty="0">
                          <a:solidFill>
                            <a:schemeClr val="tx1"/>
                          </a:solidFill>
                        </a:rPr>
                        <a:t>Target 12.4</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tc>
                  <a:txBody>
                    <a:bodyPr/>
                    <a:lstStyle/>
                    <a:p>
                      <a:pPr marL="0" indent="0">
                        <a:buNone/>
                      </a:pPr>
                      <a:r>
                        <a:rPr lang="en-US" sz="1400" dirty="0">
                          <a:solidFill>
                            <a:schemeClr val="tx1"/>
                          </a:solidFill>
                        </a:rPr>
                        <a:t>Responsible consumption and production</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tc>
                  <a:txBody>
                    <a:bodyPr/>
                    <a:lstStyle/>
                    <a:p>
                      <a:pPr marL="0" indent="0">
                        <a:buNone/>
                      </a:pPr>
                      <a:r>
                        <a:rPr lang="en-IN" sz="1400" dirty="0"/>
                        <a:t>Minimizes chemical fertilizer and pesticide over-use through precision sensor data.</a:t>
                      </a:r>
                      <a:endParaRPr lang="en-US" sz="14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Individual Member Contribution</a:t>
            </a:r>
            <a:endParaRPr lang="en-US" sz="2400" dirty="0"/>
          </a:p>
        </p:txBody>
      </p:sp>
      <p:graphicFrame>
        <p:nvGraphicFramePr>
          <p:cNvPr id="15" name="Member contribution table"/>
          <p:cNvGraphicFramePr>
            <a:graphicFrameLocks noGrp="1"/>
          </p:cNvGraphicFramePr>
          <p:nvPr>
            <p:extLst>
              <p:ext uri="{D42A27DB-BD31-4B8C-83A1-F6EECF244321}">
                <p14:modId xmlns:p14="http://schemas.microsoft.com/office/powerpoint/2010/main" val="3655239768"/>
              </p:ext>
            </p:extLst>
          </p:nvPr>
        </p:nvGraphicFramePr>
        <p:xfrm>
          <a:off x="914400" y="1362456"/>
          <a:ext cx="7315200" cy="4242816"/>
        </p:xfrm>
        <a:graphic>
          <a:graphicData uri="http://schemas.openxmlformats.org/drawingml/2006/table">
            <a:tbl>
              <a:tblPr/>
              <a:tblGrid>
                <a:gridCol w="210312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585216">
                <a:tc>
                  <a:txBody>
                    <a:bodyPr/>
                    <a:lstStyle/>
                    <a:p>
                      <a:pPr marL="0" indent="0" algn="ctr">
                        <a:buNone/>
                      </a:pPr>
                      <a:r>
                        <a:rPr lang="en-US" sz="1600" b="1" dirty="0">
                          <a:solidFill>
                            <a:schemeClr val="bg1"/>
                          </a:solidFill>
                        </a:rPr>
                        <a:t>Member</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marL="0" indent="0" algn="l">
                        <a:buNone/>
                      </a:pPr>
                      <a:r>
                        <a:rPr lang="en-US" sz="1600" b="1" dirty="0">
                          <a:solidFill>
                            <a:schemeClr val="bg1"/>
                          </a:solidFill>
                        </a:rPr>
                        <a:t>Contribution or responsibility</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914400">
                <a:tc>
                  <a:txBody>
                    <a:bodyPr/>
                    <a:lstStyle/>
                    <a:p>
                      <a:pPr marL="0" indent="0" algn="ctr">
                        <a:buNone/>
                      </a:pPr>
                      <a:r>
                        <a:rPr lang="en-US" sz="1600" b="1" dirty="0">
                          <a:solidFill>
                            <a:schemeClr val="tx1"/>
                          </a:solidFill>
                        </a:rPr>
                        <a:t>Sabharish S</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Solution &amp; Technical Design Lead</a:t>
                      </a:r>
                      <a:endParaRPr lang="en-US" sz="1600" dirty="0">
                        <a:latin typeface="Calibri" charset="0"/>
                        <a:ea typeface="Calibri" charset="0"/>
                        <a:cs typeface="Calibri" charset="0"/>
                      </a:endParaRPr>
                    </a:p>
                    <a:p>
                      <a:pPr marL="0" indent="0">
                        <a:buNone/>
                      </a:pP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914400">
                <a:tc>
                  <a:txBody>
                    <a:bodyPr/>
                    <a:lstStyle/>
                    <a:p>
                      <a:pPr marL="0" indent="0" algn="ctr">
                        <a:buNone/>
                      </a:pPr>
                      <a:r>
                        <a:rPr lang="en-US" sz="1600" b="1" dirty="0">
                          <a:solidFill>
                            <a:schemeClr val="tx1"/>
                          </a:solidFill>
                        </a:rPr>
                        <a:t>Sanjith K R</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Existing Solutions &amp; Gap Analyst</a:t>
                      </a:r>
                      <a:endParaRPr lang="en-US" sz="1600" dirty="0">
                        <a:latin typeface="Calibri" charset="0"/>
                        <a:ea typeface="Calibri" charset="0"/>
                        <a:cs typeface="Calibri" charset="0"/>
                      </a:endParaRPr>
                    </a:p>
                    <a:p>
                      <a:pPr marL="0" indent="0">
                        <a:buNone/>
                      </a:pP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extLst>
                  <a:ext uri="{0D108BD9-81ED-4DB2-BD59-A6C34878D82A}">
                    <a16:rowId xmlns:a16="http://schemas.microsoft.com/office/drawing/2014/main" val="10002"/>
                  </a:ext>
                </a:extLst>
              </a:tr>
              <a:tr h="914400">
                <a:tc>
                  <a:txBody>
                    <a:bodyPr/>
                    <a:lstStyle/>
                    <a:p>
                      <a:pPr marL="0" indent="0" algn="ctr">
                        <a:buNone/>
                      </a:pPr>
                      <a:r>
                        <a:rPr lang="en-US" sz="1600" b="1" dirty="0">
                          <a:solidFill>
                            <a:schemeClr val="tx1"/>
                          </a:solidFill>
                        </a:rPr>
                        <a:t>Saswin J</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Impact, Storytelling &amp; Presentation Lead</a:t>
                      </a:r>
                      <a:endParaRPr lang="en-US" sz="16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914400">
                <a:tc>
                  <a:txBody>
                    <a:bodyPr/>
                    <a:lstStyle/>
                    <a:p>
                      <a:pPr marL="0" indent="0" algn="ctr">
                        <a:buNone/>
                      </a:pPr>
                      <a:r>
                        <a:rPr lang="en-US" sz="1600" b="1" dirty="0">
                          <a:solidFill>
                            <a:schemeClr val="tx1"/>
                          </a:solidFill>
                        </a:rPr>
                        <a:t>Anushri Narkhede</a:t>
                      </a:r>
                      <a:endParaRPr lang="en-US" sz="1600" dirty="0"/>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Problem &amp; User Research Lead</a:t>
                      </a:r>
                      <a:endParaRPr lang="en-US" sz="1600" dirty="0">
                        <a:latin typeface="Calibri" charset="0"/>
                        <a:ea typeface="Calibri" charset="0"/>
                        <a:cs typeface="Calibri" charset="0"/>
                      </a:endParaRPr>
                    </a:p>
                  </a:txBody>
                  <a:tcPr marL="128016" marR="128016" marT="73152" marB="73152"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a:spLocks noGrp="1"/>
          </p:cNvSpPr>
          <p:nvPr>
            <p:ph type="title" idx="105" hasCustomPrompt="1"/>
          </p:nvPr>
        </p:nvSpPr>
        <p:spPr>
          <a:xfrm>
            <a:off x="649224" y="54864"/>
            <a:ext cx="7040880" cy="530352"/>
          </a:xfrm>
          <a:prstGeom prst="rect">
            <a:avLst/>
          </a:prstGeom>
          <a:noFill/>
          <a:ln/>
        </p:spPr>
        <p:txBody>
          <a:bodyPr wrap="square" lIns="0" tIns="0" rIns="0" bIns="0" rtlCol="0" anchor="ctr"/>
          <a:lstStyle/>
          <a:p>
            <a:pPr marL="0" indent="0" algn="l">
              <a:buNone/>
            </a:pPr>
            <a:r>
              <a:rPr lang="en-US" sz="2400" b="1" dirty="0">
                <a:solidFill>
                  <a:schemeClr val="tx2"/>
                </a:solidFill>
              </a:rPr>
              <a:t>Yukti ID</a:t>
            </a:r>
            <a:endParaRPr lang="en-US" sz="2400" dirty="0"/>
          </a:p>
        </p:txBody>
      </p:sp>
      <p:sp>
        <p:nvSpPr>
          <p:cNvPr id="3" name="Yukti ID box"/>
          <p:cNvSpPr/>
          <p:nvPr/>
        </p:nvSpPr>
        <p:spPr>
          <a:xfrm>
            <a:off x="1856232" y="2542032"/>
            <a:ext cx="5431536" cy="1645920"/>
          </a:xfrm>
          <a:prstGeom prst="roundRect">
            <a:avLst>
              <a:gd name="adj" fmla="val 11111"/>
            </a:avLst>
          </a:prstGeom>
          <a:solidFill>
            <a:schemeClr val="bg1"/>
          </a:solidFill>
          <a:ln w="28575">
            <a:solidFill>
              <a:schemeClr val="accent1"/>
            </a:solidFill>
            <a:prstDash val="solid"/>
          </a:ln>
        </p:spPr>
      </p:sp>
      <p:sp>
        <p:nvSpPr>
          <p:cNvPr id="4" name="Yukti ID value"/>
          <p:cNvSpPr txBox="1"/>
          <p:nvPr/>
        </p:nvSpPr>
        <p:spPr>
          <a:xfrm>
            <a:off x="1856232" y="2697480"/>
            <a:ext cx="5431536" cy="1463040"/>
          </a:xfrm>
          <a:prstGeom prst="rect">
            <a:avLst/>
          </a:prstGeom>
          <a:noFill/>
          <a:ln/>
        </p:spPr>
        <p:txBody>
          <a:bodyPr wrap="square" rtlCol="0" anchor="ctr"/>
          <a:lstStyle/>
          <a:p>
            <a:pPr algn="ctr"/>
            <a:r>
              <a:rPr lang="en-IN"/>
              <a:t>IR2026-1051088</a:t>
            </a:r>
            <a:endParaRPr lang="en-US" sz="3600" dirty="0"/>
          </a:p>
        </p:txBody>
      </p:sp>
      <p:sp>
        <p:nvSpPr>
          <p:cNvPr id="5" name="Yukti ID label pill"/>
          <p:cNvSpPr/>
          <p:nvPr/>
        </p:nvSpPr>
        <p:spPr>
          <a:xfrm>
            <a:off x="3803904" y="2340864"/>
            <a:ext cx="1536192" cy="365760"/>
          </a:xfrm>
          <a:prstGeom prst="roundRect">
            <a:avLst>
              <a:gd name="adj" fmla="val 20000"/>
            </a:avLst>
          </a:prstGeom>
          <a:solidFill>
            <a:schemeClr val="accent1"/>
          </a:solidFill>
          <a:ln/>
        </p:spPr>
      </p:sp>
      <p:sp>
        <p:nvSpPr>
          <p:cNvPr id="6" name="Yukti ID label"/>
          <p:cNvSpPr txBox="1"/>
          <p:nvPr/>
        </p:nvSpPr>
        <p:spPr>
          <a:xfrm>
            <a:off x="3803904" y="2340864"/>
            <a:ext cx="1536192" cy="365760"/>
          </a:xfrm>
          <a:prstGeom prst="rect">
            <a:avLst/>
          </a:prstGeom>
          <a:noFill/>
          <a:ln/>
        </p:spPr>
        <p:txBody>
          <a:bodyPr wrap="square" lIns="0" tIns="0" rIns="0" bIns="0" rtlCol="0" anchor="ctr"/>
          <a:lstStyle/>
          <a:p>
            <a:pPr marL="0" indent="0" algn="ctr">
              <a:buNone/>
            </a:pPr>
            <a:r>
              <a:rPr lang="en-US" sz="1500" b="1" dirty="0">
                <a:solidFill>
                  <a:schemeClr val="bg1"/>
                </a:solidFill>
              </a:rPr>
              <a:t>Yukti ID</a:t>
            </a:r>
            <a:endParaRPr lang="en-US" sz="1500" dirty="0"/>
          </a:p>
        </p:txBody>
      </p:sp>
    </p:spTree>
  </p:cSld>
  <p:clrMapOvr>
    <a:masterClrMapping/>
  </p:clrMapOvr>
</p:sld>
</file>

<file path=ppt/theme/theme1.xml><?xml version="1.0" encoding="utf-8"?>
<a:theme xmlns:a="http://schemas.openxmlformats.org/drawingml/2006/main" name="Genesis Ideathon">
  <a:themeElements>
    <a:clrScheme name="Genesis Ideathon">
      <a:dk1>
        <a:srgbClr val="1F1F1F"/>
      </a:dk1>
      <a:lt1>
        <a:srgbClr val="FFFFFF"/>
      </a:lt1>
      <a:dk2>
        <a:srgbClr val="154D34"/>
      </a:dk2>
      <a:lt2>
        <a:srgbClr val="E0F0E6"/>
      </a:lt2>
      <a:accent1>
        <a:srgbClr val="266A48"/>
      </a:accent1>
      <a:accent2>
        <a:srgbClr val="154D34"/>
      </a:accent2>
      <a:accent3>
        <a:srgbClr val="F2F8F4"/>
      </a:accent3>
      <a:accent4>
        <a:srgbClr val="5FA37E"/>
      </a:accent4>
      <a:accent5>
        <a:srgbClr val="B5003A"/>
      </a:accent5>
      <a:accent6>
        <a:srgbClr val="F5A623"/>
      </a:accent6>
      <a:hlink>
        <a:srgbClr val="266A48"/>
      </a:hlink>
      <a:folHlink>
        <a:srgbClr val="5FA37E"/>
      </a:folHlink>
    </a:clrScheme>
    <a:fontScheme name="Genesis Ideath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1001</Words>
  <Application>Microsoft Office PowerPoint</Application>
  <PresentationFormat>On-screen Show (4:3)</PresentationFormat>
  <Paragraphs>104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Genesis Ideathon</vt:lpstr>
      <vt:lpstr>PowerPoint Presentation</vt:lpstr>
      <vt:lpstr>Presentation Outline</vt:lpstr>
      <vt:lpstr>Problem Statement</vt:lpstr>
      <vt:lpstr>Problem Understanding</vt:lpstr>
      <vt:lpstr>Existing Gaps &amp; Challenges</vt:lpstr>
      <vt:lpstr>Our Proposed Solution</vt:lpstr>
      <vt:lpstr>Technical Approach</vt:lpstr>
      <vt:lpstr>Innovation &amp; Uniqueness</vt:lpstr>
      <vt:lpstr>Feasibility &amp; Scalability</vt:lpstr>
      <vt:lpstr>Cost for Product (Optional)</vt:lpstr>
      <vt:lpstr>Use Cases :</vt:lpstr>
      <vt:lpstr>Impacts and Benefits</vt:lpstr>
      <vt:lpstr>Sustainable Development Goals (SDGs)</vt:lpstr>
      <vt:lpstr>Individual Member Contribution</vt:lpstr>
      <vt:lpstr>Yukti ID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Final Presentation</dc:title>
  <dc:subject>PptxGenJS Presentation</dc:subject>
  <dc:creator>PptxGenJS</dc:creator>
  <cp:lastModifiedBy>Sabharish S</cp:lastModifiedBy>
  <cp:revision>2</cp:revision>
  <dcterms:created xsi:type="dcterms:W3CDTF">2026-10-11T05:39:23Z</dcterms:created>
  <dcterms:modified xsi:type="dcterms:W3CDTF">2026-10-11T07:58:11Z</dcterms:modified>
</cp:coreProperties>
</file>